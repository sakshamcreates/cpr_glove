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Judges, over eight million elderly Indians are quietly navigating cognitive decline today. Meet MANOMITRA—an AI-assisted cognitive engagement and caregiver support platform designed to connect senior daily play directly with caregiver peace of mind.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India, 7.4% of seniors experience cognitive decline. When memory loss begins, it creates a cascade: routine breakdown leads to caregiver uncertainty, resulting in delayed medical attention. The problem affects both the senior and the entire caregiving ecosystem.</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Existing alternatives either focus exclusively on cognitive puzzles without family visibility, or on administrative caregiver alarms with zero patient joy. MANOMITRA closes this gap by providing an offline-capable, culturally grounded loop connecting daily play to caregiver support.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MANOMITRA Care Loop is the product. Seniors play culturally familiar mini-games. The engine measures reaction time and errors, adapts difficulty, tracks 7-day stability trends, and keeps the caregiver informed through WhatsApp.</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system operates in three clear lanes: Senior, Engine, and Caregiver. Most importantly, the offline flow guarantees uninterrupted operation. When connectivity drops, games and routines save to IndexedDB and automatically sync when reconnected.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a working prototype. We have built 5 cognitive games, an offline-capable PWA, an adaptive difficulty engine, and a live WhatsApp companion. We clearly distinguish between what is working today and our planned future integrations.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show exactly where AI fits: user performance enters, the adaptive engine adjusts difficulty, and longitudinal trends generate caregiver signals. Gemini is strictly context-grounded. We state clearly: this is an engagement and monitoring tool, not a diagnostic system.</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system architecture is edge-first. The patient PWA writes to local IndexedDB. The app functions completely without internet, and syncs to the Node.js API and FastAPI ML microservices when connection resumes, delivering insights to the caregiver dashboard and WhatsApp.</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MANOMITRA is differentiated across five fundamental pillars: language, accessibility, offline connectivity, cultural familiarity, and closed-loop caregiving. It is designed from line one for India's diverse, low-connectivity realities.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roadmap is disciplined: from working prototype to user pilot, validation, and scale. Cognitive care should not depend on memory, language, or connectivity. MANOMITRA makes care continuous, accessible, and human. Thank you.</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3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914400"/>
            <a:ext cx="10728655" cy="1005840"/>
          </a:xfrm>
          <a:prstGeom prst="rect">
            <a:avLst/>
          </a:prstGeom>
          <a:noFill/>
        </p:spPr>
        <p:txBody>
          <a:bodyPr wrap="square">
            <a:spAutoFit/>
          </a:bodyPr>
          <a:lstStyle/>
          <a:p>
            <a:pPr>
              <a:defRPr b="1" sz="5600">
                <a:solidFill>
                  <a:srgbClr val="1B4332"/>
                </a:solidFill>
              </a:defRPr>
            </a:pPr>
            <a:r>
              <a:t>MANOMITRA</a:t>
            </a:r>
          </a:p>
        </p:txBody>
      </p:sp>
      <p:sp>
        <p:nvSpPr>
          <p:cNvPr id="4" name="TextBox 3"/>
          <p:cNvSpPr txBox="1"/>
          <p:nvPr/>
        </p:nvSpPr>
        <p:spPr>
          <a:xfrm>
            <a:off x="731520" y="1920240"/>
            <a:ext cx="10728655" cy="457200"/>
          </a:xfrm>
          <a:prstGeom prst="rect">
            <a:avLst/>
          </a:prstGeom>
          <a:noFill/>
        </p:spPr>
        <p:txBody>
          <a:bodyPr wrap="square">
            <a:spAutoFit/>
          </a:bodyPr>
          <a:lstStyle/>
          <a:p>
            <a:pPr>
              <a:defRPr b="1" sz="2000">
                <a:solidFill>
                  <a:srgbClr val="6B1D2F"/>
                </a:solidFill>
              </a:defRPr>
            </a:pPr>
            <a:r>
              <a:t>"Your Companion for a Healthier Mind."</a:t>
            </a:r>
          </a:p>
        </p:txBody>
      </p:sp>
      <p:sp>
        <p:nvSpPr>
          <p:cNvPr id="5" name="TextBox 4"/>
          <p:cNvSpPr txBox="1"/>
          <p:nvPr/>
        </p:nvSpPr>
        <p:spPr>
          <a:xfrm>
            <a:off x="731520" y="2423160"/>
            <a:ext cx="10728655" cy="411480"/>
          </a:xfrm>
          <a:prstGeom prst="rect">
            <a:avLst/>
          </a:prstGeom>
          <a:noFill/>
        </p:spPr>
        <p:txBody>
          <a:bodyPr wrap="square">
            <a:spAutoFit/>
          </a:bodyPr>
          <a:lstStyle/>
          <a:p>
            <a:pPr>
              <a:defRPr sz="1300">
                <a:solidFill>
                  <a:srgbClr val="4E4741"/>
                </a:solidFill>
              </a:defRPr>
            </a:pPr>
            <a:r>
              <a:t>AI-Assisted Cognitive Engagement &amp; Caregiver Support for Ageing Minds</a:t>
            </a:r>
          </a:p>
        </p:txBody>
      </p:sp>
      <p:sp>
        <p:nvSpPr>
          <p:cNvPr id="6" name="Rounded Rectangle 5"/>
          <p:cNvSpPr/>
          <p:nvPr/>
        </p:nvSpPr>
        <p:spPr>
          <a:xfrm>
            <a:off x="731520" y="3108960"/>
            <a:ext cx="10728655" cy="3108960"/>
          </a:xfrm>
          <a:prstGeom prst="roundRect">
            <a:avLst/>
          </a:prstGeom>
          <a:solidFill>
            <a:srgbClr val="FFFFFF"/>
          </a:solidFill>
          <a:ln w="15240">
            <a:solidFill>
              <a:srgbClr val="E2DCD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097280" y="3429000"/>
            <a:ext cx="2560320" cy="1097280"/>
          </a:xfrm>
          <a:prstGeom prst="roundRect">
            <a:avLst/>
          </a:prstGeom>
          <a:solidFill>
            <a:srgbClr val="EBF5EE"/>
          </a:solidFill>
          <a:ln w="15240">
            <a:solidFill>
              <a:srgbClr val="2D6A4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88720" y="3611880"/>
            <a:ext cx="2377440" cy="731520"/>
          </a:xfrm>
          <a:prstGeom prst="rect">
            <a:avLst/>
          </a:prstGeom>
          <a:noFill/>
        </p:spPr>
        <p:txBody>
          <a:bodyPr wrap="none">
            <a:spAutoFit/>
          </a:bodyPr>
          <a:lstStyle/>
          <a:p>
            <a:pPr>
              <a:defRPr b="1" sz="1300">
                <a:solidFill>
                  <a:srgbClr val="1B4332"/>
                </a:solidFill>
              </a:defRPr>
            </a:pPr>
            <a:r>
              <a:t>👴  SENIOR</a:t>
            </a:r>
          </a:p>
          <a:p>
            <a:pPr>
              <a:defRPr sz="1000">
                <a:solidFill>
                  <a:srgbClr val="4E4741"/>
                </a:solidFill>
              </a:defRPr>
            </a:pPr>
            <a:r>
              <a:t>Voice-friendly play &amp; daily routine</a:t>
            </a:r>
          </a:p>
        </p:txBody>
      </p:sp>
      <p:sp>
        <p:nvSpPr>
          <p:cNvPr id="9" name="TextBox 8"/>
          <p:cNvSpPr txBox="1"/>
          <p:nvPr/>
        </p:nvSpPr>
        <p:spPr>
          <a:xfrm>
            <a:off x="3749039" y="3749040"/>
            <a:ext cx="640080" cy="457200"/>
          </a:xfrm>
          <a:prstGeom prst="rect">
            <a:avLst/>
          </a:prstGeom>
          <a:noFill/>
        </p:spPr>
        <p:txBody>
          <a:bodyPr wrap="square" lIns="0" rIns="0" tIns="0" bIns="0">
            <a:spAutoFit/>
          </a:bodyPr>
          <a:lstStyle/>
          <a:p>
            <a:pPr algn="ctr">
              <a:defRPr b="1" sz="1800">
                <a:solidFill>
                  <a:srgbClr val="2D6A4F"/>
                </a:solidFill>
              </a:defRPr>
            </a:pPr>
            <a:r>
              <a:t>➔</a:t>
            </a:r>
          </a:p>
        </p:txBody>
      </p:sp>
      <p:sp>
        <p:nvSpPr>
          <p:cNvPr id="10" name="Rounded Rectangle 9"/>
          <p:cNvSpPr/>
          <p:nvPr/>
        </p:nvSpPr>
        <p:spPr>
          <a:xfrm>
            <a:off x="4480560" y="3429000"/>
            <a:ext cx="3230575" cy="1097280"/>
          </a:xfrm>
          <a:prstGeom prst="roundRect">
            <a:avLst/>
          </a:prstGeom>
          <a:solidFill>
            <a:srgbClr val="FFFFFF"/>
          </a:solidFill>
          <a:ln w="15240">
            <a:solidFill>
              <a:srgbClr val="1B43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0" y="3611880"/>
            <a:ext cx="3047695" cy="731520"/>
          </a:xfrm>
          <a:prstGeom prst="rect">
            <a:avLst/>
          </a:prstGeom>
          <a:noFill/>
        </p:spPr>
        <p:txBody>
          <a:bodyPr wrap="none">
            <a:spAutoFit/>
          </a:bodyPr>
          <a:lstStyle/>
          <a:p>
            <a:pPr>
              <a:defRPr b="1" sz="1300">
                <a:solidFill>
                  <a:srgbClr val="1B4332"/>
                </a:solidFill>
              </a:defRPr>
            </a:pPr>
            <a:r>
              <a:t>🧠  MANOMITRA PLATFORM</a:t>
            </a:r>
          </a:p>
          <a:p>
            <a:pPr>
              <a:defRPr sz="1000">
                <a:solidFill>
                  <a:srgbClr val="4E4741"/>
                </a:solidFill>
              </a:defRPr>
            </a:pPr>
            <a:r>
              <a:t>Adaptive engine &amp; offline-first sync</a:t>
            </a:r>
          </a:p>
        </p:txBody>
      </p:sp>
      <p:sp>
        <p:nvSpPr>
          <p:cNvPr id="12" name="TextBox 11"/>
          <p:cNvSpPr txBox="1"/>
          <p:nvPr/>
        </p:nvSpPr>
        <p:spPr>
          <a:xfrm>
            <a:off x="7802575" y="3749040"/>
            <a:ext cx="640080" cy="457200"/>
          </a:xfrm>
          <a:prstGeom prst="rect">
            <a:avLst/>
          </a:prstGeom>
          <a:noFill/>
        </p:spPr>
        <p:txBody>
          <a:bodyPr wrap="square" lIns="0" rIns="0" tIns="0" bIns="0">
            <a:spAutoFit/>
          </a:bodyPr>
          <a:lstStyle/>
          <a:p>
            <a:pPr algn="ctr">
              <a:defRPr b="1" sz="1800">
                <a:solidFill>
                  <a:srgbClr val="2D6A4F"/>
                </a:solidFill>
              </a:defRPr>
            </a:pPr>
            <a:r>
              <a:t>➔</a:t>
            </a:r>
          </a:p>
        </p:txBody>
      </p:sp>
      <p:sp>
        <p:nvSpPr>
          <p:cNvPr id="13" name="Rounded Rectangle 12"/>
          <p:cNvSpPr/>
          <p:nvPr/>
        </p:nvSpPr>
        <p:spPr>
          <a:xfrm>
            <a:off x="8534095" y="3429000"/>
            <a:ext cx="2560320" cy="1097280"/>
          </a:xfrm>
          <a:prstGeom prst="roundRect">
            <a:avLst/>
          </a:prstGeom>
          <a:solidFill>
            <a:srgbClr val="FDF2F4"/>
          </a:solidFill>
          <a:ln w="15240">
            <a:solidFill>
              <a:srgbClr val="6B1D2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25535" y="3611880"/>
            <a:ext cx="2377440" cy="731520"/>
          </a:xfrm>
          <a:prstGeom prst="rect">
            <a:avLst/>
          </a:prstGeom>
          <a:noFill/>
        </p:spPr>
        <p:txBody>
          <a:bodyPr wrap="none">
            <a:spAutoFit/>
          </a:bodyPr>
          <a:lstStyle/>
          <a:p>
            <a:pPr>
              <a:defRPr b="1" sz="1300">
                <a:solidFill>
                  <a:srgbClr val="6B1D2F"/>
                </a:solidFill>
              </a:defRPr>
            </a:pPr>
            <a:r>
              <a:t>👨‍👩‍👧  CAREGIVER</a:t>
            </a:r>
          </a:p>
          <a:p>
            <a:pPr>
              <a:defRPr sz="1000">
                <a:solidFill>
                  <a:srgbClr val="4E4741"/>
                </a:solidFill>
              </a:defRPr>
            </a:pPr>
            <a:r>
              <a:t>WhatsApp alerts &amp; weekly trends</a:t>
            </a:r>
          </a:p>
        </p:txBody>
      </p:sp>
      <p:sp>
        <p:nvSpPr>
          <p:cNvPr id="15" name="TextBox 14"/>
          <p:cNvSpPr txBox="1"/>
          <p:nvPr/>
        </p:nvSpPr>
        <p:spPr>
          <a:xfrm>
            <a:off x="5760720" y="4526280"/>
            <a:ext cx="640080" cy="365760"/>
          </a:xfrm>
          <a:prstGeom prst="rect">
            <a:avLst/>
          </a:prstGeom>
          <a:noFill/>
        </p:spPr>
        <p:txBody>
          <a:bodyPr wrap="square" lIns="0" rIns="0" tIns="0" bIns="0">
            <a:spAutoFit/>
          </a:bodyPr>
          <a:lstStyle/>
          <a:p>
            <a:pPr algn="ctr">
              <a:defRPr b="1" sz="1800">
                <a:solidFill>
                  <a:srgbClr val="2D6A4F"/>
                </a:solidFill>
              </a:defRPr>
            </a:pPr>
            <a:r>
              <a:t>↓</a:t>
            </a:r>
          </a:p>
        </p:txBody>
      </p:sp>
      <p:sp>
        <p:nvSpPr>
          <p:cNvPr id="16" name="Rounded Rectangle 15"/>
          <p:cNvSpPr/>
          <p:nvPr/>
        </p:nvSpPr>
        <p:spPr>
          <a:xfrm>
            <a:off x="1188720" y="4983480"/>
            <a:ext cx="1737360" cy="685800"/>
          </a:xfrm>
          <a:prstGeom prst="roundRect">
            <a:avLst/>
          </a:prstGeom>
          <a:solidFill>
            <a:srgbClr val="EBF5EE"/>
          </a:solidFill>
          <a:ln w="15240">
            <a:solidFill>
              <a:srgbClr val="2D6A4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188720" y="5138928"/>
            <a:ext cx="1737360" cy="365760"/>
          </a:xfrm>
          <a:prstGeom prst="rect">
            <a:avLst/>
          </a:prstGeom>
          <a:noFill/>
        </p:spPr>
        <p:txBody>
          <a:bodyPr wrap="none">
            <a:spAutoFit/>
          </a:bodyPr>
          <a:lstStyle/>
          <a:p>
            <a:pPr algn="ctr">
              <a:defRPr b="1" sz="1100">
                <a:solidFill>
                  <a:srgbClr val="1B4332"/>
                </a:solidFill>
              </a:defRPr>
            </a:pPr>
            <a:r>
              <a:t>01 PLAY</a:t>
            </a:r>
          </a:p>
        </p:txBody>
      </p:sp>
      <p:sp>
        <p:nvSpPr>
          <p:cNvPr id="18" name="TextBox 17"/>
          <p:cNvSpPr txBox="1"/>
          <p:nvPr/>
        </p:nvSpPr>
        <p:spPr>
          <a:xfrm>
            <a:off x="2926080" y="5120640"/>
            <a:ext cx="320040" cy="365760"/>
          </a:xfrm>
          <a:prstGeom prst="rect">
            <a:avLst/>
          </a:prstGeom>
          <a:noFill/>
        </p:spPr>
        <p:txBody>
          <a:bodyPr wrap="square" lIns="0" rIns="0" tIns="0" bIns="0">
            <a:spAutoFit/>
          </a:bodyPr>
          <a:lstStyle/>
          <a:p>
            <a:pPr algn="ctr">
              <a:defRPr b="1" sz="1800">
                <a:solidFill>
                  <a:srgbClr val="2D6A4F"/>
                </a:solidFill>
              </a:defRPr>
            </a:pPr>
            <a:r>
              <a:t>➔</a:t>
            </a:r>
          </a:p>
        </p:txBody>
      </p:sp>
      <p:sp>
        <p:nvSpPr>
          <p:cNvPr id="19" name="Rounded Rectangle 18"/>
          <p:cNvSpPr/>
          <p:nvPr/>
        </p:nvSpPr>
        <p:spPr>
          <a:xfrm>
            <a:off x="3246120" y="4983480"/>
            <a:ext cx="1737360" cy="685800"/>
          </a:xfrm>
          <a:prstGeom prst="roundRect">
            <a:avLst/>
          </a:prstGeom>
          <a:solidFill>
            <a:srgbClr val="EBF5EE"/>
          </a:solidFill>
          <a:ln w="15240">
            <a:solidFill>
              <a:srgbClr val="2D6A4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246120" y="5138928"/>
            <a:ext cx="1737360" cy="365760"/>
          </a:xfrm>
          <a:prstGeom prst="rect">
            <a:avLst/>
          </a:prstGeom>
          <a:noFill/>
        </p:spPr>
        <p:txBody>
          <a:bodyPr wrap="none">
            <a:spAutoFit/>
          </a:bodyPr>
          <a:lstStyle/>
          <a:p>
            <a:pPr algn="ctr">
              <a:defRPr b="1" sz="1100">
                <a:solidFill>
                  <a:srgbClr val="1B4332"/>
                </a:solidFill>
              </a:defRPr>
            </a:pPr>
            <a:r>
              <a:t>02 MEASURE</a:t>
            </a:r>
          </a:p>
        </p:txBody>
      </p:sp>
      <p:sp>
        <p:nvSpPr>
          <p:cNvPr id="21" name="TextBox 20"/>
          <p:cNvSpPr txBox="1"/>
          <p:nvPr/>
        </p:nvSpPr>
        <p:spPr>
          <a:xfrm>
            <a:off x="4983480" y="5120640"/>
            <a:ext cx="320040" cy="365760"/>
          </a:xfrm>
          <a:prstGeom prst="rect">
            <a:avLst/>
          </a:prstGeom>
          <a:noFill/>
        </p:spPr>
        <p:txBody>
          <a:bodyPr wrap="square" lIns="0" rIns="0" tIns="0" bIns="0">
            <a:spAutoFit/>
          </a:bodyPr>
          <a:lstStyle/>
          <a:p>
            <a:pPr algn="ctr">
              <a:defRPr b="1" sz="1800">
                <a:solidFill>
                  <a:srgbClr val="2D6A4F"/>
                </a:solidFill>
              </a:defRPr>
            </a:pPr>
            <a:r>
              <a:t>➔</a:t>
            </a:r>
          </a:p>
        </p:txBody>
      </p:sp>
      <p:sp>
        <p:nvSpPr>
          <p:cNvPr id="22" name="Rounded Rectangle 21"/>
          <p:cNvSpPr/>
          <p:nvPr/>
        </p:nvSpPr>
        <p:spPr>
          <a:xfrm>
            <a:off x="5303520" y="4983480"/>
            <a:ext cx="1737360" cy="685800"/>
          </a:xfrm>
          <a:prstGeom prst="roundRect">
            <a:avLst/>
          </a:prstGeom>
          <a:solidFill>
            <a:srgbClr val="EBF5EE"/>
          </a:solidFill>
          <a:ln w="15240">
            <a:solidFill>
              <a:srgbClr val="2D6A4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303520" y="5138928"/>
            <a:ext cx="1737360" cy="365760"/>
          </a:xfrm>
          <a:prstGeom prst="rect">
            <a:avLst/>
          </a:prstGeom>
          <a:noFill/>
        </p:spPr>
        <p:txBody>
          <a:bodyPr wrap="none">
            <a:spAutoFit/>
          </a:bodyPr>
          <a:lstStyle/>
          <a:p>
            <a:pPr algn="ctr">
              <a:defRPr b="1" sz="1100">
                <a:solidFill>
                  <a:srgbClr val="1B4332"/>
                </a:solidFill>
              </a:defRPr>
            </a:pPr>
            <a:r>
              <a:t>03 ADAPT</a:t>
            </a:r>
          </a:p>
        </p:txBody>
      </p:sp>
      <p:sp>
        <p:nvSpPr>
          <p:cNvPr id="24" name="TextBox 23"/>
          <p:cNvSpPr txBox="1"/>
          <p:nvPr/>
        </p:nvSpPr>
        <p:spPr>
          <a:xfrm>
            <a:off x="7040880" y="5120640"/>
            <a:ext cx="320040" cy="365760"/>
          </a:xfrm>
          <a:prstGeom prst="rect">
            <a:avLst/>
          </a:prstGeom>
          <a:noFill/>
        </p:spPr>
        <p:txBody>
          <a:bodyPr wrap="square" lIns="0" rIns="0" tIns="0" bIns="0">
            <a:spAutoFit/>
          </a:bodyPr>
          <a:lstStyle/>
          <a:p>
            <a:pPr algn="ctr">
              <a:defRPr b="1" sz="1800">
                <a:solidFill>
                  <a:srgbClr val="2D6A4F"/>
                </a:solidFill>
              </a:defRPr>
            </a:pPr>
            <a:r>
              <a:t>➔</a:t>
            </a:r>
          </a:p>
        </p:txBody>
      </p:sp>
      <p:sp>
        <p:nvSpPr>
          <p:cNvPr id="25" name="Rounded Rectangle 24"/>
          <p:cNvSpPr/>
          <p:nvPr/>
        </p:nvSpPr>
        <p:spPr>
          <a:xfrm>
            <a:off x="7360920" y="4983480"/>
            <a:ext cx="1737360" cy="685800"/>
          </a:xfrm>
          <a:prstGeom prst="roundRect">
            <a:avLst/>
          </a:prstGeom>
          <a:solidFill>
            <a:srgbClr val="EBF5EE"/>
          </a:solidFill>
          <a:ln w="15240">
            <a:solidFill>
              <a:srgbClr val="2D6A4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60920" y="5138928"/>
            <a:ext cx="1737360" cy="365760"/>
          </a:xfrm>
          <a:prstGeom prst="rect">
            <a:avLst/>
          </a:prstGeom>
          <a:noFill/>
        </p:spPr>
        <p:txBody>
          <a:bodyPr wrap="none">
            <a:spAutoFit/>
          </a:bodyPr>
          <a:lstStyle/>
          <a:p>
            <a:pPr algn="ctr">
              <a:defRPr b="1" sz="1100">
                <a:solidFill>
                  <a:srgbClr val="1B4332"/>
                </a:solidFill>
              </a:defRPr>
            </a:pPr>
            <a:r>
              <a:t>04 TRACK</a:t>
            </a:r>
          </a:p>
        </p:txBody>
      </p:sp>
      <p:sp>
        <p:nvSpPr>
          <p:cNvPr id="27" name="TextBox 26"/>
          <p:cNvSpPr txBox="1"/>
          <p:nvPr/>
        </p:nvSpPr>
        <p:spPr>
          <a:xfrm>
            <a:off x="9098280" y="5120640"/>
            <a:ext cx="320040" cy="365760"/>
          </a:xfrm>
          <a:prstGeom prst="rect">
            <a:avLst/>
          </a:prstGeom>
          <a:noFill/>
        </p:spPr>
        <p:txBody>
          <a:bodyPr wrap="square" lIns="0" rIns="0" tIns="0" bIns="0">
            <a:spAutoFit/>
          </a:bodyPr>
          <a:lstStyle/>
          <a:p>
            <a:pPr algn="ctr">
              <a:defRPr b="1" sz="1800">
                <a:solidFill>
                  <a:srgbClr val="2D6A4F"/>
                </a:solidFill>
              </a:defRPr>
            </a:pPr>
            <a:r>
              <a:t>➔</a:t>
            </a:r>
          </a:p>
        </p:txBody>
      </p:sp>
      <p:sp>
        <p:nvSpPr>
          <p:cNvPr id="28" name="Rounded Rectangle 27"/>
          <p:cNvSpPr/>
          <p:nvPr/>
        </p:nvSpPr>
        <p:spPr>
          <a:xfrm>
            <a:off x="9418320" y="4983480"/>
            <a:ext cx="1737360" cy="685800"/>
          </a:xfrm>
          <a:prstGeom prst="roundRect">
            <a:avLst/>
          </a:prstGeom>
          <a:solidFill>
            <a:srgbClr val="EBF5EE"/>
          </a:solidFill>
          <a:ln w="15240">
            <a:solidFill>
              <a:srgbClr val="2D6A4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418320" y="5138928"/>
            <a:ext cx="1737360" cy="365760"/>
          </a:xfrm>
          <a:prstGeom prst="rect">
            <a:avLst/>
          </a:prstGeom>
          <a:noFill/>
        </p:spPr>
        <p:txBody>
          <a:bodyPr wrap="none">
            <a:spAutoFit/>
          </a:bodyPr>
          <a:lstStyle/>
          <a:p>
            <a:pPr algn="ctr">
              <a:defRPr b="1" sz="1100">
                <a:solidFill>
                  <a:srgbClr val="1B4332"/>
                </a:solidFill>
              </a:defRPr>
            </a:pPr>
            <a:r>
              <a:t>05 SUPPORT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3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320040"/>
          </a:xfrm>
          <a:prstGeom prst="rect">
            <a:avLst/>
          </a:prstGeom>
          <a:noFill/>
        </p:spPr>
        <p:txBody>
          <a:bodyPr wrap="square" lIns="0" rIns="0" tIns="0" bIns="0">
            <a:spAutoFit/>
          </a:bodyPr>
          <a:lstStyle/>
          <a:p>
            <a:pPr>
              <a:defRPr b="1" sz="1000">
                <a:solidFill>
                  <a:srgbClr val="2D6A4F"/>
                </a:solidFill>
              </a:defRPr>
            </a:pPr>
            <a:r>
              <a:t>MANOMITRA</a:t>
            </a:r>
          </a:p>
        </p:txBody>
      </p:sp>
      <p:sp>
        <p:nvSpPr>
          <p:cNvPr id="4" name="TextBox 3"/>
          <p:cNvSpPr txBox="1"/>
          <p:nvPr/>
        </p:nvSpPr>
        <p:spPr>
          <a:xfrm>
            <a:off x="9601200" y="365760"/>
            <a:ext cx="1858975" cy="320040"/>
          </a:xfrm>
          <a:prstGeom prst="rect">
            <a:avLst/>
          </a:prstGeom>
          <a:noFill/>
        </p:spPr>
        <p:txBody>
          <a:bodyPr wrap="square" lIns="0" rIns="0" tIns="0" bIns="0">
            <a:spAutoFit/>
          </a:bodyPr>
          <a:lstStyle/>
          <a:p>
            <a:pPr algn="r">
              <a:defRPr b="1" sz="1100">
                <a:solidFill>
                  <a:srgbClr val="78716C"/>
                </a:solidFill>
              </a:defRPr>
            </a:pPr>
            <a:r>
              <a:t>02 / 10</a:t>
            </a:r>
          </a:p>
        </p:txBody>
      </p:sp>
      <p:sp>
        <p:nvSpPr>
          <p:cNvPr id="5" name="TextBox 4"/>
          <p:cNvSpPr txBox="1"/>
          <p:nvPr/>
        </p:nvSpPr>
        <p:spPr>
          <a:xfrm>
            <a:off x="731520" y="658368"/>
            <a:ext cx="10728655" cy="594360"/>
          </a:xfrm>
          <a:prstGeom prst="rect">
            <a:avLst/>
          </a:prstGeom>
          <a:noFill/>
        </p:spPr>
        <p:txBody>
          <a:bodyPr wrap="square" lIns="0" rIns="0" tIns="0" bIns="0">
            <a:spAutoFit/>
          </a:bodyPr>
          <a:lstStyle/>
          <a:p>
            <a:pPr>
              <a:defRPr b="1" sz="2200">
                <a:solidFill>
                  <a:srgbClr val="1B4332"/>
                </a:solidFill>
              </a:defRPr>
            </a:pPr>
            <a:r>
              <a:t>THE PROBLEM</a:t>
            </a:r>
          </a:p>
        </p:txBody>
      </p:sp>
      <p:sp>
        <p:nvSpPr>
          <p:cNvPr id="6" name="TextBox 5"/>
          <p:cNvSpPr txBox="1"/>
          <p:nvPr/>
        </p:nvSpPr>
        <p:spPr>
          <a:xfrm>
            <a:off x="731520" y="1234440"/>
            <a:ext cx="10728655" cy="365760"/>
          </a:xfrm>
          <a:prstGeom prst="rect">
            <a:avLst/>
          </a:prstGeom>
          <a:noFill/>
        </p:spPr>
        <p:txBody>
          <a:bodyPr wrap="square" lIns="0" rIns="0" tIns="0" bIns="0">
            <a:spAutoFit/>
          </a:bodyPr>
          <a:lstStyle/>
          <a:p>
            <a:pPr>
              <a:defRPr sz="1200">
                <a:solidFill>
                  <a:srgbClr val="4E4741"/>
                </a:solidFill>
              </a:defRPr>
            </a:pPr>
            <a:r>
              <a:t>Cognitive decline affects both the senior and the entire family caregiving ecosystem.</a:t>
            </a:r>
          </a:p>
        </p:txBody>
      </p:sp>
      <p:sp>
        <p:nvSpPr>
          <p:cNvPr id="7" name="Rounded Rectangle 6"/>
          <p:cNvSpPr/>
          <p:nvPr/>
        </p:nvSpPr>
        <p:spPr>
          <a:xfrm>
            <a:off x="731520" y="1645920"/>
            <a:ext cx="10728655" cy="2011680"/>
          </a:xfrm>
          <a:prstGeom prst="roundRect">
            <a:avLst/>
          </a:prstGeom>
          <a:solidFill>
            <a:srgbClr val="FDF2F4"/>
          </a:solidFill>
          <a:ln w="15240">
            <a:solidFill>
              <a:srgbClr val="6B1D2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810512"/>
            <a:ext cx="10362895" cy="320040"/>
          </a:xfrm>
          <a:prstGeom prst="rect">
            <a:avLst/>
          </a:prstGeom>
          <a:noFill/>
        </p:spPr>
        <p:txBody>
          <a:bodyPr wrap="square" lIns="0" rIns="0" tIns="0" bIns="0">
            <a:spAutoFit/>
          </a:bodyPr>
          <a:lstStyle/>
          <a:p>
            <a:pPr>
              <a:defRPr b="1" sz="1200">
                <a:solidFill>
                  <a:srgbClr val="6B1D2F"/>
                </a:solidFill>
              </a:defRPr>
            </a:pPr>
            <a:r>
              <a:t>THE CAUSAL ESCALATION</a:t>
            </a:r>
          </a:p>
        </p:txBody>
      </p:sp>
      <p:sp>
        <p:nvSpPr>
          <p:cNvPr id="9" name="Rounded Rectangle 8"/>
          <p:cNvSpPr/>
          <p:nvPr/>
        </p:nvSpPr>
        <p:spPr>
          <a:xfrm>
            <a:off x="1005840" y="2148840"/>
            <a:ext cx="2240280" cy="1234440"/>
          </a:xfrm>
          <a:prstGeom prst="roundRect">
            <a:avLst/>
          </a:prstGeom>
          <a:solidFill>
            <a:srgbClr val="FFFFFF"/>
          </a:solidFill>
          <a:ln w="15240">
            <a:solidFill>
              <a:srgbClr val="6B1D2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43000" y="2286000"/>
            <a:ext cx="1965960" cy="960120"/>
          </a:xfrm>
          <a:prstGeom prst="rect">
            <a:avLst/>
          </a:prstGeom>
          <a:noFill/>
        </p:spPr>
        <p:txBody>
          <a:bodyPr wrap="square">
            <a:spAutoFit/>
          </a:bodyPr>
          <a:lstStyle/>
          <a:p>
            <a:pPr>
              <a:defRPr b="1" sz="1100">
                <a:solidFill>
                  <a:srgbClr val="6B1D2F"/>
                </a:solidFill>
              </a:defRPr>
            </a:pPr>
            <a:r>
              <a:t>COGNITIVE DRIFT</a:t>
            </a:r>
          </a:p>
          <a:p>
            <a:pPr>
              <a:spcBef>
                <a:spcPts val="400"/>
              </a:spcBef>
              <a:defRPr sz="950">
                <a:solidFill>
                  <a:srgbClr val="4E4741"/>
                </a:solidFill>
              </a:defRPr>
            </a:pPr>
            <a:r>
              <a:t>Subtle micro-changes in processing speed &amp; recall</a:t>
            </a:r>
          </a:p>
        </p:txBody>
      </p:sp>
      <p:sp>
        <p:nvSpPr>
          <p:cNvPr id="11" name="TextBox 10"/>
          <p:cNvSpPr txBox="1"/>
          <p:nvPr/>
        </p:nvSpPr>
        <p:spPr>
          <a:xfrm>
            <a:off x="3246120" y="2560320"/>
            <a:ext cx="320040" cy="365760"/>
          </a:xfrm>
          <a:prstGeom prst="rect">
            <a:avLst/>
          </a:prstGeom>
          <a:noFill/>
        </p:spPr>
        <p:txBody>
          <a:bodyPr wrap="square" lIns="0" rIns="0" tIns="0" bIns="0">
            <a:spAutoFit/>
          </a:bodyPr>
          <a:lstStyle/>
          <a:p>
            <a:pPr algn="ctr">
              <a:defRPr b="1" sz="1800">
                <a:solidFill>
                  <a:srgbClr val="6B1D2F"/>
                </a:solidFill>
              </a:defRPr>
            </a:pPr>
            <a:r>
              <a:t>➔</a:t>
            </a:r>
          </a:p>
        </p:txBody>
      </p:sp>
      <p:sp>
        <p:nvSpPr>
          <p:cNvPr id="12" name="Rounded Rectangle 11"/>
          <p:cNvSpPr/>
          <p:nvPr/>
        </p:nvSpPr>
        <p:spPr>
          <a:xfrm>
            <a:off x="3566160" y="2148840"/>
            <a:ext cx="2240280" cy="1234440"/>
          </a:xfrm>
          <a:prstGeom prst="roundRect">
            <a:avLst/>
          </a:prstGeom>
          <a:solidFill>
            <a:srgbClr val="FFFFFF"/>
          </a:solidFill>
          <a:ln w="15240">
            <a:solidFill>
              <a:srgbClr val="1B43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703320" y="2286000"/>
            <a:ext cx="1965960" cy="960120"/>
          </a:xfrm>
          <a:prstGeom prst="rect">
            <a:avLst/>
          </a:prstGeom>
          <a:noFill/>
        </p:spPr>
        <p:txBody>
          <a:bodyPr wrap="square">
            <a:spAutoFit/>
          </a:bodyPr>
          <a:lstStyle/>
          <a:p>
            <a:pPr>
              <a:defRPr b="1" sz="1100">
                <a:solidFill>
                  <a:srgbClr val="1B4332"/>
                </a:solidFill>
              </a:defRPr>
            </a:pPr>
            <a:r>
              <a:t>DAILY ROUTINE CHANGES</a:t>
            </a:r>
          </a:p>
          <a:p>
            <a:pPr>
              <a:spcBef>
                <a:spcPts val="400"/>
              </a:spcBef>
              <a:defRPr sz="950">
                <a:solidFill>
                  <a:srgbClr val="4E4741"/>
                </a:solidFill>
              </a:defRPr>
            </a:pPr>
            <a:r>
              <a:t>Missed medications, confusion &amp; withdrawal</a:t>
            </a:r>
          </a:p>
        </p:txBody>
      </p:sp>
      <p:sp>
        <p:nvSpPr>
          <p:cNvPr id="14" name="TextBox 13"/>
          <p:cNvSpPr txBox="1"/>
          <p:nvPr/>
        </p:nvSpPr>
        <p:spPr>
          <a:xfrm>
            <a:off x="5806440" y="2560320"/>
            <a:ext cx="320040" cy="365760"/>
          </a:xfrm>
          <a:prstGeom prst="rect">
            <a:avLst/>
          </a:prstGeom>
          <a:noFill/>
        </p:spPr>
        <p:txBody>
          <a:bodyPr wrap="square" lIns="0" rIns="0" tIns="0" bIns="0">
            <a:spAutoFit/>
          </a:bodyPr>
          <a:lstStyle/>
          <a:p>
            <a:pPr algn="ctr">
              <a:defRPr b="1" sz="1800">
                <a:solidFill>
                  <a:srgbClr val="6B1D2F"/>
                </a:solidFill>
              </a:defRPr>
            </a:pPr>
            <a:r>
              <a:t>➔</a:t>
            </a:r>
          </a:p>
        </p:txBody>
      </p:sp>
      <p:sp>
        <p:nvSpPr>
          <p:cNvPr id="15" name="Rounded Rectangle 14"/>
          <p:cNvSpPr/>
          <p:nvPr/>
        </p:nvSpPr>
        <p:spPr>
          <a:xfrm>
            <a:off x="6126480" y="2148840"/>
            <a:ext cx="2240280" cy="1234440"/>
          </a:xfrm>
          <a:prstGeom prst="roundRect">
            <a:avLst/>
          </a:prstGeom>
          <a:solidFill>
            <a:srgbClr val="FFFFFF"/>
          </a:solidFill>
          <a:ln w="15240">
            <a:solidFill>
              <a:srgbClr val="6B1D2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63640" y="2286000"/>
            <a:ext cx="1965960" cy="960120"/>
          </a:xfrm>
          <a:prstGeom prst="rect">
            <a:avLst/>
          </a:prstGeom>
          <a:noFill/>
        </p:spPr>
        <p:txBody>
          <a:bodyPr wrap="square">
            <a:spAutoFit/>
          </a:bodyPr>
          <a:lstStyle/>
          <a:p>
            <a:pPr>
              <a:defRPr b="1" sz="1100">
                <a:solidFill>
                  <a:srgbClr val="6B1D2F"/>
                </a:solidFill>
              </a:defRPr>
            </a:pPr>
            <a:r>
              <a:t>CAREGIVER BLINDSPOT</a:t>
            </a:r>
          </a:p>
          <a:p>
            <a:pPr>
              <a:spcBef>
                <a:spcPts val="400"/>
              </a:spcBef>
              <a:defRPr sz="950">
                <a:solidFill>
                  <a:srgbClr val="4E4741"/>
                </a:solidFill>
              </a:defRPr>
            </a:pPr>
            <a:r>
              <a:t>Families lack continuous visibility between visits</a:t>
            </a:r>
          </a:p>
        </p:txBody>
      </p:sp>
      <p:sp>
        <p:nvSpPr>
          <p:cNvPr id="17" name="TextBox 16"/>
          <p:cNvSpPr txBox="1"/>
          <p:nvPr/>
        </p:nvSpPr>
        <p:spPr>
          <a:xfrm>
            <a:off x="8366760" y="2560320"/>
            <a:ext cx="320040" cy="365760"/>
          </a:xfrm>
          <a:prstGeom prst="rect">
            <a:avLst/>
          </a:prstGeom>
          <a:noFill/>
        </p:spPr>
        <p:txBody>
          <a:bodyPr wrap="square" lIns="0" rIns="0" tIns="0" bIns="0">
            <a:spAutoFit/>
          </a:bodyPr>
          <a:lstStyle/>
          <a:p>
            <a:pPr algn="ctr">
              <a:defRPr b="1" sz="1800">
                <a:solidFill>
                  <a:srgbClr val="6B1D2F"/>
                </a:solidFill>
              </a:defRPr>
            </a:pPr>
            <a:r>
              <a:t>➔</a:t>
            </a:r>
          </a:p>
        </p:txBody>
      </p:sp>
      <p:sp>
        <p:nvSpPr>
          <p:cNvPr id="18" name="Rounded Rectangle 17"/>
          <p:cNvSpPr/>
          <p:nvPr/>
        </p:nvSpPr>
        <p:spPr>
          <a:xfrm>
            <a:off x="8686800" y="2148840"/>
            <a:ext cx="2240280" cy="1234440"/>
          </a:xfrm>
          <a:prstGeom prst="roundRect">
            <a:avLst/>
          </a:prstGeom>
          <a:solidFill>
            <a:srgbClr val="FFFFFF"/>
          </a:solidFill>
          <a:ln w="15240">
            <a:solidFill>
              <a:srgbClr val="6B1D2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823960" y="2286000"/>
            <a:ext cx="1965960" cy="960120"/>
          </a:xfrm>
          <a:prstGeom prst="rect">
            <a:avLst/>
          </a:prstGeom>
          <a:noFill/>
        </p:spPr>
        <p:txBody>
          <a:bodyPr wrap="square">
            <a:spAutoFit/>
          </a:bodyPr>
          <a:lstStyle/>
          <a:p>
            <a:pPr>
              <a:defRPr b="1" sz="1100">
                <a:solidFill>
                  <a:srgbClr val="6B1D2F"/>
                </a:solidFill>
              </a:defRPr>
            </a:pPr>
            <a:r>
              <a:t>REACTIVE CARE</a:t>
            </a:r>
          </a:p>
          <a:p>
            <a:pPr>
              <a:spcBef>
                <a:spcPts val="400"/>
              </a:spcBef>
              <a:defRPr sz="950">
                <a:solidFill>
                  <a:srgbClr val="4E4741"/>
                </a:solidFill>
              </a:defRPr>
            </a:pPr>
            <a:r>
              <a:t>Late crisis awareness &amp; emergency intervention</a:t>
            </a:r>
          </a:p>
        </p:txBody>
      </p:sp>
      <p:sp>
        <p:nvSpPr>
          <p:cNvPr id="20" name="Rounded Rectangle 19"/>
          <p:cNvSpPr/>
          <p:nvPr/>
        </p:nvSpPr>
        <p:spPr>
          <a:xfrm>
            <a:off x="731520" y="3931920"/>
            <a:ext cx="5257800" cy="2103120"/>
          </a:xfrm>
          <a:prstGeom prst="roundRect">
            <a:avLst/>
          </a:prstGeom>
          <a:solidFill>
            <a:srgbClr val="FFFFFF"/>
          </a:solidFill>
          <a:ln w="15240">
            <a:solidFill>
              <a:srgbClr val="2D6A4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05840" y="4206240"/>
            <a:ext cx="4709160" cy="1554480"/>
          </a:xfrm>
          <a:prstGeom prst="rect">
            <a:avLst/>
          </a:prstGeom>
          <a:noFill/>
        </p:spPr>
        <p:txBody>
          <a:bodyPr wrap="none">
            <a:spAutoFit/>
          </a:bodyPr>
          <a:lstStyle/>
          <a:p>
            <a:pPr>
              <a:defRPr b="1" sz="4800">
                <a:solidFill>
                  <a:srgbClr val="1B4332"/>
                </a:solidFill>
              </a:defRPr>
            </a:pPr>
            <a:r>
              <a:t>7.4%</a:t>
            </a:r>
          </a:p>
          <a:p>
            <a:pPr>
              <a:defRPr b="1" sz="1200">
                <a:solidFill>
                  <a:srgbClr val="1C1917"/>
                </a:solidFill>
              </a:defRPr>
            </a:pPr>
            <a:r>
              <a:t>Dementia Prevalence in Indian Seniors (Ages 60+)</a:t>
            </a:r>
          </a:p>
          <a:p>
            <a:pPr>
              <a:defRPr sz="1000">
                <a:solidFill>
                  <a:srgbClr val="4E4741"/>
                </a:solidFill>
              </a:defRPr>
            </a:pPr>
            <a:r>
              <a:t>Demonstrated across urban and rural demographics in the national LASI-DAD study.</a:t>
            </a:r>
          </a:p>
        </p:txBody>
      </p:sp>
      <p:sp>
        <p:nvSpPr>
          <p:cNvPr id="22" name="Rounded Rectangle 21"/>
          <p:cNvSpPr/>
          <p:nvPr/>
        </p:nvSpPr>
        <p:spPr>
          <a:xfrm>
            <a:off x="6202375" y="3931920"/>
            <a:ext cx="5257800" cy="2103120"/>
          </a:xfrm>
          <a:prstGeom prst="roundRect">
            <a:avLst/>
          </a:prstGeom>
          <a:solidFill>
            <a:srgbClr val="FFFFFF"/>
          </a:solidFill>
          <a:ln w="15240">
            <a:solidFill>
              <a:srgbClr val="6B1D2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76695" y="4206240"/>
            <a:ext cx="4709160" cy="1554480"/>
          </a:xfrm>
          <a:prstGeom prst="rect">
            <a:avLst/>
          </a:prstGeom>
          <a:noFill/>
        </p:spPr>
        <p:txBody>
          <a:bodyPr wrap="none">
            <a:spAutoFit/>
          </a:bodyPr>
          <a:lstStyle/>
          <a:p>
            <a:pPr>
              <a:defRPr b="1" sz="4200">
                <a:solidFill>
                  <a:srgbClr val="6B1D2F"/>
                </a:solidFill>
              </a:defRPr>
            </a:pPr>
            <a:r>
              <a:t>8.8M ➔ 14.3M</a:t>
            </a:r>
          </a:p>
          <a:p>
            <a:pPr>
              <a:defRPr b="1" sz="1200">
                <a:solidFill>
                  <a:srgbClr val="1C1917"/>
                </a:solidFill>
              </a:defRPr>
            </a:pPr>
            <a:r>
              <a:t>Projected Cases in India (2026 to 2036)</a:t>
            </a:r>
          </a:p>
          <a:p>
            <a:pPr>
              <a:defRPr sz="1000">
                <a:solidFill>
                  <a:srgbClr val="4E4741"/>
                </a:solidFill>
              </a:defRPr>
            </a:pPr>
            <a:r>
              <a:t>+25% growth over the next decade creating an overwhelming informal caregiving challenge.</a:t>
            </a:r>
          </a:p>
        </p:txBody>
      </p:sp>
      <p:sp>
        <p:nvSpPr>
          <p:cNvPr id="24" name="TextBox 23"/>
          <p:cNvSpPr txBox="1"/>
          <p:nvPr/>
        </p:nvSpPr>
        <p:spPr>
          <a:xfrm>
            <a:off x="731520" y="6172200"/>
            <a:ext cx="10728655" cy="320040"/>
          </a:xfrm>
          <a:prstGeom prst="rect">
            <a:avLst/>
          </a:prstGeom>
          <a:noFill/>
        </p:spPr>
        <p:txBody>
          <a:bodyPr wrap="none">
            <a:spAutoFit/>
          </a:bodyPr>
          <a:lstStyle/>
          <a:p>
            <a:pPr>
              <a:defRPr sz="900">
                <a:solidFill>
                  <a:srgbClr val="78716C"/>
                </a:solidFill>
              </a:defRPr>
            </a:pPr>
            <a:r>
              <a:t>Data Sources: Longitudinal Aging Study in India Diagnostic Assessment of Dementia (LASI-DAD), The Lancet Commission (2024).</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3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320040"/>
          </a:xfrm>
          <a:prstGeom prst="rect">
            <a:avLst/>
          </a:prstGeom>
          <a:noFill/>
        </p:spPr>
        <p:txBody>
          <a:bodyPr wrap="square" lIns="0" rIns="0" tIns="0" bIns="0">
            <a:spAutoFit/>
          </a:bodyPr>
          <a:lstStyle/>
          <a:p>
            <a:pPr>
              <a:defRPr b="1" sz="1000">
                <a:solidFill>
                  <a:srgbClr val="2D6A4F"/>
                </a:solidFill>
              </a:defRPr>
            </a:pPr>
            <a:r>
              <a:t>MANOMITRA</a:t>
            </a:r>
          </a:p>
        </p:txBody>
      </p:sp>
      <p:sp>
        <p:nvSpPr>
          <p:cNvPr id="4" name="TextBox 3"/>
          <p:cNvSpPr txBox="1"/>
          <p:nvPr/>
        </p:nvSpPr>
        <p:spPr>
          <a:xfrm>
            <a:off x="9601200" y="365760"/>
            <a:ext cx="1858975" cy="320040"/>
          </a:xfrm>
          <a:prstGeom prst="rect">
            <a:avLst/>
          </a:prstGeom>
          <a:noFill/>
        </p:spPr>
        <p:txBody>
          <a:bodyPr wrap="square" lIns="0" rIns="0" tIns="0" bIns="0">
            <a:spAutoFit/>
          </a:bodyPr>
          <a:lstStyle/>
          <a:p>
            <a:pPr algn="r">
              <a:defRPr b="1" sz="1100">
                <a:solidFill>
                  <a:srgbClr val="78716C"/>
                </a:solidFill>
              </a:defRPr>
            </a:pPr>
            <a:r>
              <a:t>03 / 10</a:t>
            </a:r>
          </a:p>
        </p:txBody>
      </p:sp>
      <p:sp>
        <p:nvSpPr>
          <p:cNvPr id="5" name="TextBox 4"/>
          <p:cNvSpPr txBox="1"/>
          <p:nvPr/>
        </p:nvSpPr>
        <p:spPr>
          <a:xfrm>
            <a:off x="731520" y="658368"/>
            <a:ext cx="10728655" cy="594360"/>
          </a:xfrm>
          <a:prstGeom prst="rect">
            <a:avLst/>
          </a:prstGeom>
          <a:noFill/>
        </p:spPr>
        <p:txBody>
          <a:bodyPr wrap="square" lIns="0" rIns="0" tIns="0" bIns="0">
            <a:spAutoFit/>
          </a:bodyPr>
          <a:lstStyle/>
          <a:p>
            <a:pPr>
              <a:defRPr b="1" sz="2200">
                <a:solidFill>
                  <a:srgbClr val="1B4332"/>
                </a:solidFill>
              </a:defRPr>
            </a:pPr>
            <a:r>
              <a:t>THE GAP IN EXISTING SOLUTIONS</a:t>
            </a:r>
          </a:p>
        </p:txBody>
      </p:sp>
      <p:sp>
        <p:nvSpPr>
          <p:cNvPr id="6" name="TextBox 5"/>
          <p:cNvSpPr txBox="1"/>
          <p:nvPr/>
        </p:nvSpPr>
        <p:spPr>
          <a:xfrm>
            <a:off x="731520" y="1234440"/>
            <a:ext cx="10728655" cy="365760"/>
          </a:xfrm>
          <a:prstGeom prst="rect">
            <a:avLst/>
          </a:prstGeom>
          <a:noFill/>
        </p:spPr>
        <p:txBody>
          <a:bodyPr wrap="square" lIns="0" rIns="0" tIns="0" bIns="0">
            <a:spAutoFit/>
          </a:bodyPr>
          <a:lstStyle/>
          <a:p>
            <a:pPr>
              <a:defRPr sz="1200">
                <a:solidFill>
                  <a:srgbClr val="4E4741"/>
                </a:solidFill>
              </a:defRPr>
            </a:pPr>
            <a:r>
              <a:t>Current options leave a disconnect between daily senior engagement and caregiver visibility.</a:t>
            </a:r>
          </a:p>
        </p:txBody>
      </p:sp>
      <p:graphicFrame>
        <p:nvGraphicFramePr>
          <p:cNvPr id="7" name="Table 6"/>
          <p:cNvGraphicFramePr>
            <a:graphicFrameLocks noGrp="1"/>
          </p:cNvGraphicFramePr>
          <p:nvPr/>
        </p:nvGraphicFramePr>
        <p:xfrm>
          <a:off x="731520" y="1645920"/>
          <a:ext cx="10728655" cy="3931920"/>
        </p:xfrm>
        <a:graphic>
          <a:graphicData uri="http://schemas.openxmlformats.org/drawingml/2006/table">
            <a:tbl>
              <a:tblPr firstRow="1" bandRow="1">
                <a:tableStyleId>{5C22544A-7EE6-4342-B048-85BDC9FD1C3A}</a:tableStyleId>
              </a:tblPr>
              <a:tblGrid>
                <a:gridCol w="2499055"/>
                <a:gridCol w="1645920"/>
                <a:gridCol w="1645920"/>
                <a:gridCol w="1645920"/>
                <a:gridCol w="1645920"/>
                <a:gridCol w="1645920"/>
              </a:tblGrid>
              <a:tr h="655320">
                <a:tc>
                  <a:txBody>
                    <a:bodyPr/>
                    <a:lstStyle/>
                    <a:p>
                      <a:pPr algn="l">
                        <a:defRPr b="1" sz="1000">
                          <a:solidFill>
                            <a:srgbClr val="FFFFFF"/>
                          </a:solidFill>
                        </a:defRPr>
                      </a:pPr>
                      <a:r>
                        <a:t>SOLUTION CATEGORY</a:t>
                      </a:r>
                    </a:p>
                  </a:txBody>
                  <a:tcPr>
                    <a:solidFill>
                      <a:srgbClr val="1B4332"/>
                    </a:solidFill>
                  </a:tcPr>
                </a:tc>
                <a:tc>
                  <a:txBody>
                    <a:bodyPr/>
                    <a:lstStyle/>
                    <a:p>
                      <a:pPr algn="ctr">
                        <a:defRPr b="1" sz="1000">
                          <a:solidFill>
                            <a:srgbClr val="FFFFFF"/>
                          </a:solidFill>
                        </a:defRPr>
                      </a:pPr>
                      <a:r>
                        <a:t>DAILY ENGAGE</a:t>
                      </a:r>
                    </a:p>
                  </a:txBody>
                  <a:tcPr>
                    <a:solidFill>
                      <a:srgbClr val="1B4332"/>
                    </a:solidFill>
                  </a:tcPr>
                </a:tc>
                <a:tc>
                  <a:txBody>
                    <a:bodyPr/>
                    <a:lstStyle/>
                    <a:p>
                      <a:pPr algn="ctr">
                        <a:defRPr b="1" sz="1000">
                          <a:solidFill>
                            <a:srgbClr val="FFFFFF"/>
                          </a:solidFill>
                        </a:defRPr>
                      </a:pPr>
                      <a:r>
                        <a:t>CAREGIVER LOOP</a:t>
                      </a:r>
                    </a:p>
                  </a:txBody>
                  <a:tcPr>
                    <a:solidFill>
                      <a:srgbClr val="1B4332"/>
                    </a:solidFill>
                  </a:tcPr>
                </a:tc>
                <a:tc>
                  <a:txBody>
                    <a:bodyPr/>
                    <a:lstStyle/>
                    <a:p>
                      <a:pPr algn="ctr">
                        <a:defRPr b="1" sz="1000">
                          <a:solidFill>
                            <a:srgbClr val="FFFFFF"/>
                          </a:solidFill>
                        </a:defRPr>
                      </a:pPr>
                      <a:r>
                        <a:t>OFFLINE USE</a:t>
                      </a:r>
                    </a:p>
                  </a:txBody>
                  <a:tcPr>
                    <a:solidFill>
                      <a:srgbClr val="1B4332"/>
                    </a:solidFill>
                  </a:tcPr>
                </a:tc>
                <a:tc>
                  <a:txBody>
                    <a:bodyPr/>
                    <a:lstStyle/>
                    <a:p>
                      <a:pPr algn="ctr">
                        <a:defRPr b="1" sz="1000">
                          <a:solidFill>
                            <a:srgbClr val="FFFFFF"/>
                          </a:solidFill>
                        </a:defRPr>
                      </a:pPr>
                      <a:r>
                        <a:t>INDIAN CONTEXT</a:t>
                      </a:r>
                    </a:p>
                  </a:txBody>
                  <a:tcPr>
                    <a:solidFill>
                      <a:srgbClr val="1B4332"/>
                    </a:solidFill>
                  </a:tcPr>
                </a:tc>
                <a:tc>
                  <a:txBody>
                    <a:bodyPr/>
                    <a:lstStyle/>
                    <a:p>
                      <a:pPr algn="ctr">
                        <a:defRPr b="1" sz="1000">
                          <a:solidFill>
                            <a:srgbClr val="FFFFFF"/>
                          </a:solidFill>
                        </a:defRPr>
                      </a:pPr>
                      <a:r>
                        <a:t>ADAPTIVE CARE</a:t>
                      </a:r>
                    </a:p>
                  </a:txBody>
                  <a:tcPr>
                    <a:solidFill>
                      <a:srgbClr val="1B4332"/>
                    </a:solidFill>
                  </a:tcPr>
                </a:tc>
              </a:tr>
              <a:tr h="655320">
                <a:tc>
                  <a:txBody>
                    <a:bodyPr/>
                    <a:lstStyle/>
                    <a:p>
                      <a:pPr algn="l">
                        <a:defRPr b="0" sz="1100">
                          <a:solidFill>
                            <a:srgbClr val="1C1917"/>
                          </a:solidFill>
                        </a:defRPr>
                      </a:pPr>
                      <a:r>
                        <a:t>Clinical Therapy (Hospital / Paper)</a:t>
                      </a:r>
                    </a:p>
                  </a:txBody>
                  <a:tcPr>
                    <a:solidFill>
                      <a:srgbClr val="FFFFFF"/>
                    </a:solidFill>
                  </a:tcPr>
                </a:tc>
                <a:tc>
                  <a:txBody>
                    <a:bodyPr/>
                    <a:lstStyle/>
                    <a:p>
                      <a:pPr algn="ctr">
                        <a:defRPr b="0" sz="1300">
                          <a:solidFill>
                            <a:srgbClr val="1C1917"/>
                          </a:solidFill>
                        </a:defRPr>
                      </a:pPr>
                      <a:r>
                        <a:t>✕</a:t>
                      </a:r>
                    </a:p>
                  </a:txBody>
                  <a:tcPr>
                    <a:solidFill>
                      <a:srgbClr val="FFFFFF"/>
                    </a:solidFill>
                  </a:tcPr>
                </a:tc>
                <a:tc>
                  <a:txBody>
                    <a:bodyPr/>
                    <a:lstStyle/>
                    <a:p>
                      <a:pPr algn="ctr">
                        <a:defRPr b="0" sz="1300">
                          <a:solidFill>
                            <a:srgbClr val="1C1917"/>
                          </a:solidFill>
                        </a:defRPr>
                      </a:pPr>
                      <a:r>
                        <a:t>✕</a:t>
                      </a:r>
                    </a:p>
                  </a:txBody>
                  <a:tcPr>
                    <a:solidFill>
                      <a:srgbClr val="FFFFFF"/>
                    </a:solidFill>
                  </a:tcPr>
                </a:tc>
                <a:tc>
                  <a:txBody>
                    <a:bodyPr/>
                    <a:lstStyle/>
                    <a:p>
                      <a:pPr algn="ctr">
                        <a:defRPr b="0" sz="1300">
                          <a:solidFill>
                            <a:srgbClr val="1C1917"/>
                          </a:solidFill>
                        </a:defRPr>
                      </a:pPr>
                      <a:r>
                        <a:t>✓</a:t>
                      </a:r>
                    </a:p>
                  </a:txBody>
                  <a:tcPr>
                    <a:solidFill>
                      <a:srgbClr val="FFFFFF"/>
                    </a:solidFill>
                  </a:tcPr>
                </a:tc>
                <a:tc>
                  <a:txBody>
                    <a:bodyPr/>
                    <a:lstStyle/>
                    <a:p>
                      <a:pPr algn="ctr">
                        <a:defRPr b="0" sz="1300">
                          <a:solidFill>
                            <a:srgbClr val="1C1917"/>
                          </a:solidFill>
                        </a:defRPr>
                      </a:pPr>
                      <a:r>
                        <a:t>△</a:t>
                      </a:r>
                    </a:p>
                  </a:txBody>
                  <a:tcPr>
                    <a:solidFill>
                      <a:srgbClr val="FFFFFF"/>
                    </a:solidFill>
                  </a:tcPr>
                </a:tc>
                <a:tc>
                  <a:txBody>
                    <a:bodyPr/>
                    <a:lstStyle/>
                    <a:p>
                      <a:pPr algn="ctr">
                        <a:defRPr b="0" sz="1300">
                          <a:solidFill>
                            <a:srgbClr val="1C1917"/>
                          </a:solidFill>
                        </a:defRPr>
                      </a:pPr>
                      <a:r>
                        <a:t>✕</a:t>
                      </a:r>
                    </a:p>
                  </a:txBody>
                  <a:tcPr>
                    <a:solidFill>
                      <a:srgbClr val="FFFFFF"/>
                    </a:solidFill>
                  </a:tcPr>
                </a:tc>
              </a:tr>
              <a:tr h="655320">
                <a:tc>
                  <a:txBody>
                    <a:bodyPr/>
                    <a:lstStyle/>
                    <a:p>
                      <a:pPr algn="l">
                        <a:defRPr b="0" sz="1100">
                          <a:solidFill>
                            <a:srgbClr val="1C1917"/>
                          </a:solidFill>
                        </a:defRPr>
                      </a:pPr>
                      <a:r>
                        <a:t>Brain Training Apps (Western)</a:t>
                      </a:r>
                    </a:p>
                  </a:txBody>
                  <a:tcPr>
                    <a:solidFill>
                      <a:srgbClr val="FFFFFF"/>
                    </a:solidFill>
                  </a:tcPr>
                </a:tc>
                <a:tc>
                  <a:txBody>
                    <a:bodyPr/>
                    <a:lstStyle/>
                    <a:p>
                      <a:pPr algn="ctr">
                        <a:defRPr b="0" sz="1300">
                          <a:solidFill>
                            <a:srgbClr val="1C1917"/>
                          </a:solidFill>
                        </a:defRPr>
                      </a:pPr>
                      <a:r>
                        <a:t>✓</a:t>
                      </a:r>
                    </a:p>
                  </a:txBody>
                  <a:tcPr>
                    <a:solidFill>
                      <a:srgbClr val="FFFFFF"/>
                    </a:solidFill>
                  </a:tcPr>
                </a:tc>
                <a:tc>
                  <a:txBody>
                    <a:bodyPr/>
                    <a:lstStyle/>
                    <a:p>
                      <a:pPr algn="ctr">
                        <a:defRPr b="0" sz="1300">
                          <a:solidFill>
                            <a:srgbClr val="1C1917"/>
                          </a:solidFill>
                        </a:defRPr>
                      </a:pPr>
                      <a:r>
                        <a:t>✕</a:t>
                      </a:r>
                    </a:p>
                  </a:txBody>
                  <a:tcPr>
                    <a:solidFill>
                      <a:srgbClr val="FFFFFF"/>
                    </a:solidFill>
                  </a:tcPr>
                </a:tc>
                <a:tc>
                  <a:txBody>
                    <a:bodyPr/>
                    <a:lstStyle/>
                    <a:p>
                      <a:pPr algn="ctr">
                        <a:defRPr b="0" sz="1300">
                          <a:solidFill>
                            <a:srgbClr val="1C1917"/>
                          </a:solidFill>
                        </a:defRPr>
                      </a:pPr>
                      <a:r>
                        <a:t>✕</a:t>
                      </a:r>
                    </a:p>
                  </a:txBody>
                  <a:tcPr>
                    <a:solidFill>
                      <a:srgbClr val="FFFFFF"/>
                    </a:solidFill>
                  </a:tcPr>
                </a:tc>
                <a:tc>
                  <a:txBody>
                    <a:bodyPr/>
                    <a:lstStyle/>
                    <a:p>
                      <a:pPr algn="ctr">
                        <a:defRPr b="0" sz="1300">
                          <a:solidFill>
                            <a:srgbClr val="1C1917"/>
                          </a:solidFill>
                        </a:defRPr>
                      </a:pPr>
                      <a:r>
                        <a:t>✕</a:t>
                      </a:r>
                    </a:p>
                  </a:txBody>
                  <a:tcPr>
                    <a:solidFill>
                      <a:srgbClr val="FFFFFF"/>
                    </a:solidFill>
                  </a:tcPr>
                </a:tc>
                <a:tc>
                  <a:txBody>
                    <a:bodyPr/>
                    <a:lstStyle/>
                    <a:p>
                      <a:pPr algn="ctr">
                        <a:defRPr b="0" sz="1300">
                          <a:solidFill>
                            <a:srgbClr val="1C1917"/>
                          </a:solidFill>
                        </a:defRPr>
                      </a:pPr>
                      <a:r>
                        <a:t>△</a:t>
                      </a:r>
                    </a:p>
                  </a:txBody>
                  <a:tcPr>
                    <a:solidFill>
                      <a:srgbClr val="FFFFFF"/>
                    </a:solidFill>
                  </a:tcPr>
                </a:tc>
              </a:tr>
              <a:tr h="655320">
                <a:tc>
                  <a:txBody>
                    <a:bodyPr/>
                    <a:lstStyle/>
                    <a:p>
                      <a:pPr algn="l">
                        <a:defRPr b="0" sz="1100">
                          <a:solidFill>
                            <a:srgbClr val="1C1917"/>
                          </a:solidFill>
                        </a:defRPr>
                      </a:pPr>
                      <a:r>
                        <a:t>Generic AI Chatbots</a:t>
                      </a:r>
                    </a:p>
                  </a:txBody>
                  <a:tcPr>
                    <a:solidFill>
                      <a:srgbClr val="FFFFFF"/>
                    </a:solidFill>
                  </a:tcPr>
                </a:tc>
                <a:tc>
                  <a:txBody>
                    <a:bodyPr/>
                    <a:lstStyle/>
                    <a:p>
                      <a:pPr algn="ctr">
                        <a:defRPr b="0" sz="1300">
                          <a:solidFill>
                            <a:srgbClr val="1C1917"/>
                          </a:solidFill>
                        </a:defRPr>
                      </a:pPr>
                      <a:r>
                        <a:t>△</a:t>
                      </a:r>
                    </a:p>
                  </a:txBody>
                  <a:tcPr>
                    <a:solidFill>
                      <a:srgbClr val="FFFFFF"/>
                    </a:solidFill>
                  </a:tcPr>
                </a:tc>
                <a:tc>
                  <a:txBody>
                    <a:bodyPr/>
                    <a:lstStyle/>
                    <a:p>
                      <a:pPr algn="ctr">
                        <a:defRPr b="0" sz="1300">
                          <a:solidFill>
                            <a:srgbClr val="1C1917"/>
                          </a:solidFill>
                        </a:defRPr>
                      </a:pPr>
                      <a:r>
                        <a:t>✕</a:t>
                      </a:r>
                    </a:p>
                  </a:txBody>
                  <a:tcPr>
                    <a:solidFill>
                      <a:srgbClr val="FFFFFF"/>
                    </a:solidFill>
                  </a:tcPr>
                </a:tc>
                <a:tc>
                  <a:txBody>
                    <a:bodyPr/>
                    <a:lstStyle/>
                    <a:p>
                      <a:pPr algn="ctr">
                        <a:defRPr b="0" sz="1300">
                          <a:solidFill>
                            <a:srgbClr val="1C1917"/>
                          </a:solidFill>
                        </a:defRPr>
                      </a:pPr>
                      <a:r>
                        <a:t>✕</a:t>
                      </a:r>
                    </a:p>
                  </a:txBody>
                  <a:tcPr>
                    <a:solidFill>
                      <a:srgbClr val="FFFFFF"/>
                    </a:solidFill>
                  </a:tcPr>
                </a:tc>
                <a:tc>
                  <a:txBody>
                    <a:bodyPr/>
                    <a:lstStyle/>
                    <a:p>
                      <a:pPr algn="ctr">
                        <a:defRPr b="0" sz="1300">
                          <a:solidFill>
                            <a:srgbClr val="1C1917"/>
                          </a:solidFill>
                        </a:defRPr>
                      </a:pPr>
                      <a:r>
                        <a:t>✕</a:t>
                      </a:r>
                    </a:p>
                  </a:txBody>
                  <a:tcPr>
                    <a:solidFill>
                      <a:srgbClr val="FFFFFF"/>
                    </a:solidFill>
                  </a:tcPr>
                </a:tc>
                <a:tc>
                  <a:txBody>
                    <a:bodyPr/>
                    <a:lstStyle/>
                    <a:p>
                      <a:pPr algn="ctr">
                        <a:defRPr b="0" sz="1300">
                          <a:solidFill>
                            <a:srgbClr val="1C1917"/>
                          </a:solidFill>
                        </a:defRPr>
                      </a:pPr>
                      <a:r>
                        <a:t>✕</a:t>
                      </a:r>
                    </a:p>
                  </a:txBody>
                  <a:tcPr>
                    <a:solidFill>
                      <a:srgbClr val="FFFFFF"/>
                    </a:solidFill>
                  </a:tcPr>
                </a:tc>
              </a:tr>
              <a:tr h="655320">
                <a:tc>
                  <a:txBody>
                    <a:bodyPr/>
                    <a:lstStyle/>
                    <a:p>
                      <a:pPr algn="l">
                        <a:defRPr b="0" sz="1100">
                          <a:solidFill>
                            <a:srgbClr val="1C1917"/>
                          </a:solidFill>
                        </a:defRPr>
                      </a:pPr>
                      <a:r>
                        <a:t>Caregiver Alarms &amp; Trackers</a:t>
                      </a:r>
                    </a:p>
                  </a:txBody>
                  <a:tcPr>
                    <a:solidFill>
                      <a:srgbClr val="FFFFFF"/>
                    </a:solidFill>
                  </a:tcPr>
                </a:tc>
                <a:tc>
                  <a:txBody>
                    <a:bodyPr/>
                    <a:lstStyle/>
                    <a:p>
                      <a:pPr algn="ctr">
                        <a:defRPr b="0" sz="1300">
                          <a:solidFill>
                            <a:srgbClr val="1C1917"/>
                          </a:solidFill>
                        </a:defRPr>
                      </a:pPr>
                      <a:r>
                        <a:t>✕</a:t>
                      </a:r>
                    </a:p>
                  </a:txBody>
                  <a:tcPr>
                    <a:solidFill>
                      <a:srgbClr val="FFFFFF"/>
                    </a:solidFill>
                  </a:tcPr>
                </a:tc>
                <a:tc>
                  <a:txBody>
                    <a:bodyPr/>
                    <a:lstStyle/>
                    <a:p>
                      <a:pPr algn="ctr">
                        <a:defRPr b="0" sz="1300">
                          <a:solidFill>
                            <a:srgbClr val="1C1917"/>
                          </a:solidFill>
                        </a:defRPr>
                      </a:pPr>
                      <a:r>
                        <a:t>✓</a:t>
                      </a:r>
                    </a:p>
                  </a:txBody>
                  <a:tcPr>
                    <a:solidFill>
                      <a:srgbClr val="FFFFFF"/>
                    </a:solidFill>
                  </a:tcPr>
                </a:tc>
                <a:tc>
                  <a:txBody>
                    <a:bodyPr/>
                    <a:lstStyle/>
                    <a:p>
                      <a:pPr algn="ctr">
                        <a:defRPr b="0" sz="1300">
                          <a:solidFill>
                            <a:srgbClr val="1C1917"/>
                          </a:solidFill>
                        </a:defRPr>
                      </a:pPr>
                      <a:r>
                        <a:t>△</a:t>
                      </a:r>
                    </a:p>
                  </a:txBody>
                  <a:tcPr>
                    <a:solidFill>
                      <a:srgbClr val="FFFFFF"/>
                    </a:solidFill>
                  </a:tcPr>
                </a:tc>
                <a:tc>
                  <a:txBody>
                    <a:bodyPr/>
                    <a:lstStyle/>
                    <a:p>
                      <a:pPr algn="ctr">
                        <a:defRPr b="0" sz="1300">
                          <a:solidFill>
                            <a:srgbClr val="1C1917"/>
                          </a:solidFill>
                        </a:defRPr>
                      </a:pPr>
                      <a:r>
                        <a:t>△</a:t>
                      </a:r>
                    </a:p>
                  </a:txBody>
                  <a:tcPr>
                    <a:solidFill>
                      <a:srgbClr val="FFFFFF"/>
                    </a:solidFill>
                  </a:tcPr>
                </a:tc>
                <a:tc>
                  <a:txBody>
                    <a:bodyPr/>
                    <a:lstStyle/>
                    <a:p>
                      <a:pPr algn="ctr">
                        <a:defRPr b="0" sz="1300">
                          <a:solidFill>
                            <a:srgbClr val="1C1917"/>
                          </a:solidFill>
                        </a:defRPr>
                      </a:pPr>
                      <a:r>
                        <a:t>✕</a:t>
                      </a:r>
                    </a:p>
                  </a:txBody>
                  <a:tcPr>
                    <a:solidFill>
                      <a:srgbClr val="FFFFFF"/>
                    </a:solidFill>
                  </a:tcPr>
                </a:tc>
              </a:tr>
              <a:tr h="655320">
                <a:tc>
                  <a:txBody>
                    <a:bodyPr/>
                    <a:lstStyle/>
                    <a:p>
                      <a:pPr algn="l">
                        <a:defRPr b="1" sz="1100">
                          <a:solidFill>
                            <a:srgbClr val="1B4332"/>
                          </a:solidFill>
                        </a:defRPr>
                      </a:pPr>
                      <a:r>
                        <a:t>MANOMITRA</a:t>
                      </a:r>
                    </a:p>
                  </a:txBody>
                  <a:tcPr>
                    <a:solidFill>
                      <a:srgbClr val="EBF5EE"/>
                    </a:solidFill>
                  </a:tcPr>
                </a:tc>
                <a:tc>
                  <a:txBody>
                    <a:bodyPr/>
                    <a:lstStyle/>
                    <a:p>
                      <a:pPr algn="ctr">
                        <a:defRPr b="1" sz="1300">
                          <a:solidFill>
                            <a:srgbClr val="1B4332"/>
                          </a:solidFill>
                        </a:defRPr>
                      </a:pPr>
                      <a:r>
                        <a:t>✓</a:t>
                      </a:r>
                    </a:p>
                  </a:txBody>
                  <a:tcPr>
                    <a:solidFill>
                      <a:srgbClr val="EBF5EE"/>
                    </a:solidFill>
                  </a:tcPr>
                </a:tc>
                <a:tc>
                  <a:txBody>
                    <a:bodyPr/>
                    <a:lstStyle/>
                    <a:p>
                      <a:pPr algn="ctr">
                        <a:defRPr b="1" sz="1300">
                          <a:solidFill>
                            <a:srgbClr val="1B4332"/>
                          </a:solidFill>
                        </a:defRPr>
                      </a:pPr>
                      <a:r>
                        <a:t>✓</a:t>
                      </a:r>
                    </a:p>
                  </a:txBody>
                  <a:tcPr>
                    <a:solidFill>
                      <a:srgbClr val="EBF5EE"/>
                    </a:solidFill>
                  </a:tcPr>
                </a:tc>
                <a:tc>
                  <a:txBody>
                    <a:bodyPr/>
                    <a:lstStyle/>
                    <a:p>
                      <a:pPr algn="ctr">
                        <a:defRPr b="1" sz="1300">
                          <a:solidFill>
                            <a:srgbClr val="1B4332"/>
                          </a:solidFill>
                        </a:defRPr>
                      </a:pPr>
                      <a:r>
                        <a:t>✓</a:t>
                      </a:r>
                    </a:p>
                  </a:txBody>
                  <a:tcPr>
                    <a:solidFill>
                      <a:srgbClr val="EBF5EE"/>
                    </a:solidFill>
                  </a:tcPr>
                </a:tc>
                <a:tc>
                  <a:txBody>
                    <a:bodyPr/>
                    <a:lstStyle/>
                    <a:p>
                      <a:pPr algn="ctr">
                        <a:defRPr b="1" sz="1300">
                          <a:solidFill>
                            <a:srgbClr val="1B4332"/>
                          </a:solidFill>
                        </a:defRPr>
                      </a:pPr>
                      <a:r>
                        <a:t>✓</a:t>
                      </a:r>
                    </a:p>
                  </a:txBody>
                  <a:tcPr>
                    <a:solidFill>
                      <a:srgbClr val="EBF5EE"/>
                    </a:solidFill>
                  </a:tcPr>
                </a:tc>
                <a:tc>
                  <a:txBody>
                    <a:bodyPr/>
                    <a:lstStyle/>
                    <a:p>
                      <a:pPr algn="ctr">
                        <a:defRPr b="1" sz="1300">
                          <a:solidFill>
                            <a:srgbClr val="1B4332"/>
                          </a:solidFill>
                        </a:defRPr>
                      </a:pPr>
                      <a:r>
                        <a:t>✓</a:t>
                      </a:r>
                    </a:p>
                  </a:txBody>
                  <a:tcPr>
                    <a:solidFill>
                      <a:srgbClr val="EBF5EE"/>
                    </a:solidFill>
                  </a:tcPr>
                </a:tc>
              </a:tr>
            </a:tbl>
          </a:graphicData>
        </a:graphic>
      </p:graphicFrame>
      <p:sp>
        <p:nvSpPr>
          <p:cNvPr id="8" name="Rounded Rectangle 7"/>
          <p:cNvSpPr/>
          <p:nvPr/>
        </p:nvSpPr>
        <p:spPr>
          <a:xfrm>
            <a:off x="731520" y="5760720"/>
            <a:ext cx="10728655" cy="594360"/>
          </a:xfrm>
          <a:prstGeom prst="roundRect">
            <a:avLst/>
          </a:prstGeom>
          <a:solidFill>
            <a:srgbClr val="EBF5EE"/>
          </a:solidFill>
          <a:ln w="12700">
            <a:solidFill>
              <a:srgbClr val="2D6A4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200">
                <a:solidFill>
                  <a:srgbClr val="1B4332"/>
                </a:solidFill>
              </a:defRPr>
            </a:pPr>
            <a:r>
              <a:t>One continuous loop for senior engagement + caregiver support.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3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320040"/>
          </a:xfrm>
          <a:prstGeom prst="rect">
            <a:avLst/>
          </a:prstGeom>
          <a:noFill/>
        </p:spPr>
        <p:txBody>
          <a:bodyPr wrap="square" lIns="0" rIns="0" tIns="0" bIns="0">
            <a:spAutoFit/>
          </a:bodyPr>
          <a:lstStyle/>
          <a:p>
            <a:pPr>
              <a:defRPr b="1" sz="1000">
                <a:solidFill>
                  <a:srgbClr val="2D6A4F"/>
                </a:solidFill>
              </a:defRPr>
            </a:pPr>
            <a:r>
              <a:t>MANOMITRA</a:t>
            </a:r>
          </a:p>
        </p:txBody>
      </p:sp>
      <p:sp>
        <p:nvSpPr>
          <p:cNvPr id="4" name="TextBox 3"/>
          <p:cNvSpPr txBox="1"/>
          <p:nvPr/>
        </p:nvSpPr>
        <p:spPr>
          <a:xfrm>
            <a:off x="9601200" y="365760"/>
            <a:ext cx="1858975" cy="320040"/>
          </a:xfrm>
          <a:prstGeom prst="rect">
            <a:avLst/>
          </a:prstGeom>
          <a:noFill/>
        </p:spPr>
        <p:txBody>
          <a:bodyPr wrap="square" lIns="0" rIns="0" tIns="0" bIns="0">
            <a:spAutoFit/>
          </a:bodyPr>
          <a:lstStyle/>
          <a:p>
            <a:pPr algn="r">
              <a:defRPr b="1" sz="1100">
                <a:solidFill>
                  <a:srgbClr val="78716C"/>
                </a:solidFill>
              </a:defRPr>
            </a:pPr>
            <a:r>
              <a:t>04 / 10</a:t>
            </a:r>
          </a:p>
        </p:txBody>
      </p:sp>
      <p:sp>
        <p:nvSpPr>
          <p:cNvPr id="5" name="TextBox 4"/>
          <p:cNvSpPr txBox="1"/>
          <p:nvPr/>
        </p:nvSpPr>
        <p:spPr>
          <a:xfrm>
            <a:off x="731520" y="658368"/>
            <a:ext cx="10728655" cy="594360"/>
          </a:xfrm>
          <a:prstGeom prst="rect">
            <a:avLst/>
          </a:prstGeom>
          <a:noFill/>
        </p:spPr>
        <p:txBody>
          <a:bodyPr wrap="square" lIns="0" rIns="0" tIns="0" bIns="0">
            <a:spAutoFit/>
          </a:bodyPr>
          <a:lstStyle/>
          <a:p>
            <a:pPr>
              <a:defRPr b="1" sz="2200">
                <a:solidFill>
                  <a:srgbClr val="1B4332"/>
                </a:solidFill>
              </a:defRPr>
            </a:pPr>
            <a:r>
              <a:t>THE MANOMITRA CARE LOOP</a:t>
            </a:r>
          </a:p>
        </p:txBody>
      </p:sp>
      <p:sp>
        <p:nvSpPr>
          <p:cNvPr id="6" name="TextBox 5"/>
          <p:cNvSpPr txBox="1"/>
          <p:nvPr/>
        </p:nvSpPr>
        <p:spPr>
          <a:xfrm>
            <a:off x="731520" y="1234440"/>
            <a:ext cx="10728655" cy="365760"/>
          </a:xfrm>
          <a:prstGeom prst="rect">
            <a:avLst/>
          </a:prstGeom>
          <a:noFill/>
        </p:spPr>
        <p:txBody>
          <a:bodyPr wrap="square" lIns="0" rIns="0" tIns="0" bIns="0">
            <a:spAutoFit/>
          </a:bodyPr>
          <a:lstStyle/>
          <a:p>
            <a:pPr>
              <a:defRPr sz="1200">
                <a:solidFill>
                  <a:srgbClr val="4E4741"/>
                </a:solidFill>
              </a:defRPr>
            </a:pPr>
            <a:r>
              <a:t>A continuous 5-stage loop connecting daily mental vitality with proactive family visibility.</a:t>
            </a:r>
          </a:p>
        </p:txBody>
      </p:sp>
      <p:sp>
        <p:nvSpPr>
          <p:cNvPr id="7" name="Rounded Rectangle 6"/>
          <p:cNvSpPr/>
          <p:nvPr/>
        </p:nvSpPr>
        <p:spPr>
          <a:xfrm>
            <a:off x="4632350" y="3200400"/>
            <a:ext cx="2926080" cy="1280160"/>
          </a:xfrm>
          <a:prstGeom prst="roundRect">
            <a:avLst/>
          </a:prstGeom>
          <a:solidFill>
            <a:srgbClr val="1B4332"/>
          </a:solidFill>
          <a:ln w="15240">
            <a:solidFill>
              <a:srgbClr val="1B43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723790" y="3474720"/>
            <a:ext cx="2743200" cy="731520"/>
          </a:xfrm>
          <a:prstGeom prst="rect">
            <a:avLst/>
          </a:prstGeom>
          <a:noFill/>
        </p:spPr>
        <p:txBody>
          <a:bodyPr wrap="none">
            <a:spAutoFit/>
          </a:bodyPr>
          <a:lstStyle/>
          <a:p>
            <a:pPr algn="ctr">
              <a:defRPr b="1" sz="1400">
                <a:solidFill>
                  <a:srgbClr val="FFFFFF"/>
                </a:solidFill>
              </a:defRPr>
            </a:pPr>
            <a:r>
              <a:t>MANOMITRA ENGINE</a:t>
            </a:r>
          </a:p>
          <a:p>
            <a:pPr algn="ctr">
              <a:defRPr sz="1000">
                <a:solidFill>
                  <a:srgbClr val="EBF5EE"/>
                </a:solidFill>
              </a:defRPr>
            </a:pPr>
            <a:r>
              <a:t>Adaptive Care Intelligence</a:t>
            </a:r>
          </a:p>
        </p:txBody>
      </p:sp>
      <p:sp>
        <p:nvSpPr>
          <p:cNvPr id="9" name="Rounded Rectangle 8"/>
          <p:cNvSpPr/>
          <p:nvPr/>
        </p:nvSpPr>
        <p:spPr>
          <a:xfrm>
            <a:off x="4449470" y="1645920"/>
            <a:ext cx="3291840" cy="1051560"/>
          </a:xfrm>
          <a:prstGeom prst="roundRect">
            <a:avLst/>
          </a:prstGeom>
          <a:solidFill>
            <a:srgbClr val="FFFFFF"/>
          </a:solidFill>
          <a:ln w="15240">
            <a:solidFill>
              <a:srgbClr val="2D6A4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40910" y="1783080"/>
            <a:ext cx="3108960" cy="777240"/>
          </a:xfrm>
          <a:prstGeom prst="rect">
            <a:avLst/>
          </a:prstGeom>
          <a:noFill/>
        </p:spPr>
        <p:txBody>
          <a:bodyPr wrap="none">
            <a:spAutoFit/>
          </a:bodyPr>
          <a:lstStyle/>
          <a:p>
            <a:pPr>
              <a:defRPr b="1" sz="1200">
                <a:solidFill>
                  <a:srgbClr val="1B4332"/>
                </a:solidFill>
              </a:defRPr>
            </a:pPr>
            <a:r>
              <a:t>01 • PLAY</a:t>
            </a:r>
          </a:p>
          <a:p>
            <a:pPr>
              <a:defRPr sz="950">
                <a:solidFill>
                  <a:srgbClr val="4E4741"/>
                </a:solidFill>
              </a:defRPr>
            </a:pPr>
            <a:r>
              <a:t>Culturally rooted cognitive mini-games</a:t>
            </a:r>
          </a:p>
        </p:txBody>
      </p:sp>
      <p:sp>
        <p:nvSpPr>
          <p:cNvPr id="11" name="Rounded Rectangle 10"/>
          <p:cNvSpPr/>
          <p:nvPr/>
        </p:nvSpPr>
        <p:spPr>
          <a:xfrm>
            <a:off x="8046720" y="2377440"/>
            <a:ext cx="3291840" cy="1051560"/>
          </a:xfrm>
          <a:prstGeom prst="roundRect">
            <a:avLst/>
          </a:prstGeom>
          <a:solidFill>
            <a:srgbClr val="FFFFFF"/>
          </a:solidFill>
          <a:ln w="15240">
            <a:solidFill>
              <a:srgbClr val="2D6A4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138160" y="2514600"/>
            <a:ext cx="3108960" cy="777240"/>
          </a:xfrm>
          <a:prstGeom prst="rect">
            <a:avLst/>
          </a:prstGeom>
          <a:noFill/>
        </p:spPr>
        <p:txBody>
          <a:bodyPr wrap="none">
            <a:spAutoFit/>
          </a:bodyPr>
          <a:lstStyle/>
          <a:p>
            <a:pPr>
              <a:defRPr b="1" sz="1200">
                <a:solidFill>
                  <a:srgbClr val="1B4332"/>
                </a:solidFill>
              </a:defRPr>
            </a:pPr>
            <a:r>
              <a:t>02 • MEASURE</a:t>
            </a:r>
          </a:p>
          <a:p>
            <a:pPr>
              <a:defRPr sz="950">
                <a:solidFill>
                  <a:srgbClr val="4E4741"/>
                </a:solidFill>
              </a:defRPr>
            </a:pPr>
            <a:r>
              <a:t>Accuracy + response latency telemetry</a:t>
            </a:r>
          </a:p>
        </p:txBody>
      </p:sp>
      <p:sp>
        <p:nvSpPr>
          <p:cNvPr id="13" name="Rounded Rectangle 12"/>
          <p:cNvSpPr/>
          <p:nvPr/>
        </p:nvSpPr>
        <p:spPr>
          <a:xfrm>
            <a:off x="8046720" y="4297680"/>
            <a:ext cx="3291840" cy="1051560"/>
          </a:xfrm>
          <a:prstGeom prst="roundRect">
            <a:avLst/>
          </a:prstGeom>
          <a:solidFill>
            <a:srgbClr val="FFFFFF"/>
          </a:solidFill>
          <a:ln w="15240">
            <a:solidFill>
              <a:srgbClr val="2D6A4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138160" y="4434840"/>
            <a:ext cx="3108960" cy="777240"/>
          </a:xfrm>
          <a:prstGeom prst="rect">
            <a:avLst/>
          </a:prstGeom>
          <a:noFill/>
        </p:spPr>
        <p:txBody>
          <a:bodyPr wrap="none">
            <a:spAutoFit/>
          </a:bodyPr>
          <a:lstStyle/>
          <a:p>
            <a:pPr>
              <a:defRPr b="1" sz="1200">
                <a:solidFill>
                  <a:srgbClr val="1B4332"/>
                </a:solidFill>
              </a:defRPr>
            </a:pPr>
            <a:r>
              <a:t>03 • ADAPT</a:t>
            </a:r>
          </a:p>
          <a:p>
            <a:pPr>
              <a:defRPr sz="950">
                <a:solidFill>
                  <a:srgbClr val="4E4741"/>
                </a:solidFill>
              </a:defRPr>
            </a:pPr>
            <a:r>
              <a:t>Dynamic difficulty scaling &amp; gentle hints</a:t>
            </a:r>
          </a:p>
        </p:txBody>
      </p:sp>
      <p:sp>
        <p:nvSpPr>
          <p:cNvPr id="15" name="Rounded Rectangle 14"/>
          <p:cNvSpPr/>
          <p:nvPr/>
        </p:nvSpPr>
        <p:spPr>
          <a:xfrm>
            <a:off x="853135" y="4297680"/>
            <a:ext cx="3291840" cy="1051560"/>
          </a:xfrm>
          <a:prstGeom prst="roundRect">
            <a:avLst/>
          </a:prstGeom>
          <a:solidFill>
            <a:srgbClr val="FFFFFF"/>
          </a:solidFill>
          <a:ln w="15240">
            <a:solidFill>
              <a:srgbClr val="2D6A4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44575" y="4434840"/>
            <a:ext cx="3108960" cy="777240"/>
          </a:xfrm>
          <a:prstGeom prst="rect">
            <a:avLst/>
          </a:prstGeom>
          <a:noFill/>
        </p:spPr>
        <p:txBody>
          <a:bodyPr wrap="none">
            <a:spAutoFit/>
          </a:bodyPr>
          <a:lstStyle/>
          <a:p>
            <a:pPr>
              <a:defRPr b="1" sz="1200">
                <a:solidFill>
                  <a:srgbClr val="1B4332"/>
                </a:solidFill>
              </a:defRPr>
            </a:pPr>
            <a:r>
              <a:t>04 • TRACK</a:t>
            </a:r>
          </a:p>
          <a:p>
            <a:pPr>
              <a:defRPr sz="950">
                <a:solidFill>
                  <a:srgbClr val="4E4741"/>
                </a:solidFill>
              </a:defRPr>
            </a:pPr>
            <a:r>
              <a:t>7-Day adherence &amp; cognitive trend curves</a:t>
            </a:r>
          </a:p>
        </p:txBody>
      </p:sp>
      <p:sp>
        <p:nvSpPr>
          <p:cNvPr id="17" name="Rounded Rectangle 16"/>
          <p:cNvSpPr/>
          <p:nvPr/>
        </p:nvSpPr>
        <p:spPr>
          <a:xfrm>
            <a:off x="853135" y="2377440"/>
            <a:ext cx="3291840" cy="1051560"/>
          </a:xfrm>
          <a:prstGeom prst="roundRect">
            <a:avLst/>
          </a:prstGeom>
          <a:solidFill>
            <a:srgbClr val="FDF2F4"/>
          </a:solidFill>
          <a:ln w="15240">
            <a:solidFill>
              <a:srgbClr val="6B1D2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44575" y="2514600"/>
            <a:ext cx="3108960" cy="777240"/>
          </a:xfrm>
          <a:prstGeom prst="rect">
            <a:avLst/>
          </a:prstGeom>
          <a:noFill/>
        </p:spPr>
        <p:txBody>
          <a:bodyPr wrap="none">
            <a:spAutoFit/>
          </a:bodyPr>
          <a:lstStyle/>
          <a:p>
            <a:pPr>
              <a:defRPr b="1" sz="1200">
                <a:solidFill>
                  <a:srgbClr val="6B1D2F"/>
                </a:solidFill>
              </a:defRPr>
            </a:pPr>
            <a:r>
              <a:t>05 • SUPPORT</a:t>
            </a:r>
          </a:p>
          <a:p>
            <a:pPr>
              <a:defRPr sz="950">
                <a:solidFill>
                  <a:srgbClr val="4E4741"/>
                </a:solidFill>
              </a:defRPr>
            </a:pPr>
            <a:r>
              <a:t>WhatsApp alerts &amp; routine confirmation</a:t>
            </a:r>
          </a:p>
        </p:txBody>
      </p:sp>
      <p:sp>
        <p:nvSpPr>
          <p:cNvPr id="19" name="TextBox 18"/>
          <p:cNvSpPr txBox="1"/>
          <p:nvPr/>
        </p:nvSpPr>
        <p:spPr>
          <a:xfrm>
            <a:off x="7315200" y="1828800"/>
            <a:ext cx="640080" cy="365760"/>
          </a:xfrm>
          <a:prstGeom prst="rect">
            <a:avLst/>
          </a:prstGeom>
          <a:noFill/>
        </p:spPr>
        <p:txBody>
          <a:bodyPr wrap="square" lIns="0" rIns="0" tIns="0" bIns="0">
            <a:spAutoFit/>
          </a:bodyPr>
          <a:lstStyle/>
          <a:p>
            <a:pPr algn="ctr">
              <a:defRPr b="1" sz="1800">
                <a:solidFill>
                  <a:srgbClr val="2D6A4F"/>
                </a:solidFill>
              </a:defRPr>
            </a:pPr>
            <a:r>
              <a:t>➔</a:t>
            </a:r>
          </a:p>
        </p:txBody>
      </p:sp>
      <p:sp>
        <p:nvSpPr>
          <p:cNvPr id="20" name="TextBox 19"/>
          <p:cNvSpPr txBox="1"/>
          <p:nvPr/>
        </p:nvSpPr>
        <p:spPr>
          <a:xfrm>
            <a:off x="9326880" y="3566160"/>
            <a:ext cx="640080" cy="365760"/>
          </a:xfrm>
          <a:prstGeom prst="rect">
            <a:avLst/>
          </a:prstGeom>
          <a:noFill/>
        </p:spPr>
        <p:txBody>
          <a:bodyPr wrap="square" lIns="0" rIns="0" tIns="0" bIns="0">
            <a:spAutoFit/>
          </a:bodyPr>
          <a:lstStyle/>
          <a:p>
            <a:pPr algn="ctr">
              <a:defRPr b="1" sz="1800">
                <a:solidFill>
                  <a:srgbClr val="2D6A4F"/>
                </a:solidFill>
              </a:defRPr>
            </a:pPr>
            <a:r>
              <a:t>↓</a:t>
            </a:r>
          </a:p>
        </p:txBody>
      </p:sp>
      <p:sp>
        <p:nvSpPr>
          <p:cNvPr id="21" name="TextBox 20"/>
          <p:cNvSpPr txBox="1"/>
          <p:nvPr/>
        </p:nvSpPr>
        <p:spPr>
          <a:xfrm>
            <a:off x="5303520" y="4572000"/>
            <a:ext cx="1554480" cy="365760"/>
          </a:xfrm>
          <a:prstGeom prst="rect">
            <a:avLst/>
          </a:prstGeom>
          <a:noFill/>
        </p:spPr>
        <p:txBody>
          <a:bodyPr wrap="square" lIns="0" rIns="0" tIns="0" bIns="0">
            <a:spAutoFit/>
          </a:bodyPr>
          <a:lstStyle/>
          <a:p>
            <a:pPr algn="ctr">
              <a:defRPr b="1" sz="1800">
                <a:solidFill>
                  <a:srgbClr val="2D6A4F"/>
                </a:solidFill>
              </a:defRPr>
            </a:pPr>
            <a:r>
              <a:t>← ➔</a:t>
            </a:r>
          </a:p>
        </p:txBody>
      </p:sp>
      <p:sp>
        <p:nvSpPr>
          <p:cNvPr id="22" name="TextBox 21"/>
          <p:cNvSpPr txBox="1"/>
          <p:nvPr/>
        </p:nvSpPr>
        <p:spPr>
          <a:xfrm>
            <a:off x="2194560" y="3566160"/>
            <a:ext cx="640080" cy="365760"/>
          </a:xfrm>
          <a:prstGeom prst="rect">
            <a:avLst/>
          </a:prstGeom>
          <a:noFill/>
        </p:spPr>
        <p:txBody>
          <a:bodyPr wrap="square" lIns="0" rIns="0" tIns="0" bIns="0">
            <a:spAutoFit/>
          </a:bodyPr>
          <a:lstStyle/>
          <a:p>
            <a:pPr algn="ctr">
              <a:defRPr b="1" sz="1800">
                <a:solidFill>
                  <a:srgbClr val="2D6A4F"/>
                </a:solidFill>
              </a:defRPr>
            </a:pPr>
            <a:r>
              <a:t>↑</a:t>
            </a:r>
          </a:p>
        </p:txBody>
      </p:sp>
      <p:sp>
        <p:nvSpPr>
          <p:cNvPr id="23" name="TextBox 22"/>
          <p:cNvSpPr txBox="1"/>
          <p:nvPr/>
        </p:nvSpPr>
        <p:spPr>
          <a:xfrm>
            <a:off x="3840480" y="1828800"/>
            <a:ext cx="640080" cy="365760"/>
          </a:xfrm>
          <a:prstGeom prst="rect">
            <a:avLst/>
          </a:prstGeom>
          <a:noFill/>
        </p:spPr>
        <p:txBody>
          <a:bodyPr wrap="square" lIns="0" rIns="0" tIns="0" bIns="0">
            <a:spAutoFit/>
          </a:bodyPr>
          <a:lstStyle/>
          <a:p>
            <a:pPr algn="ctr">
              <a:defRPr b="1" sz="1800">
                <a:solidFill>
                  <a:srgbClr val="2D6A4F"/>
                </a:solidFill>
              </a:defRPr>
            </a:pPr>
            <a:r>
              <a:t>➔</a:t>
            </a:r>
          </a:p>
        </p:txBody>
      </p:sp>
      <p:sp>
        <p:nvSpPr>
          <p:cNvPr id="24" name="TextBox 23"/>
          <p:cNvSpPr txBox="1"/>
          <p:nvPr/>
        </p:nvSpPr>
        <p:spPr>
          <a:xfrm>
            <a:off x="731520" y="5852160"/>
            <a:ext cx="10728655" cy="457200"/>
          </a:xfrm>
          <a:prstGeom prst="rect">
            <a:avLst/>
          </a:prstGeom>
          <a:noFill/>
        </p:spPr>
        <p:txBody>
          <a:bodyPr wrap="none">
            <a:spAutoFit/>
          </a:bodyPr>
          <a:lstStyle/>
          <a:p>
            <a:pPr algn="ctr">
              <a:defRPr b="1" sz="1500">
                <a:solidFill>
                  <a:srgbClr val="1B4332"/>
                </a:solidFill>
              </a:defRPr>
            </a:pPr>
            <a:r>
              <a:t>"The loop is the product."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3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320040"/>
          </a:xfrm>
          <a:prstGeom prst="rect">
            <a:avLst/>
          </a:prstGeom>
          <a:noFill/>
        </p:spPr>
        <p:txBody>
          <a:bodyPr wrap="square" lIns="0" rIns="0" tIns="0" bIns="0">
            <a:spAutoFit/>
          </a:bodyPr>
          <a:lstStyle/>
          <a:p>
            <a:pPr>
              <a:defRPr b="1" sz="1000">
                <a:solidFill>
                  <a:srgbClr val="2D6A4F"/>
                </a:solidFill>
              </a:defRPr>
            </a:pPr>
            <a:r>
              <a:t>MANOMITRA</a:t>
            </a:r>
          </a:p>
        </p:txBody>
      </p:sp>
      <p:sp>
        <p:nvSpPr>
          <p:cNvPr id="4" name="TextBox 3"/>
          <p:cNvSpPr txBox="1"/>
          <p:nvPr/>
        </p:nvSpPr>
        <p:spPr>
          <a:xfrm>
            <a:off x="9601200" y="365760"/>
            <a:ext cx="1858975" cy="320040"/>
          </a:xfrm>
          <a:prstGeom prst="rect">
            <a:avLst/>
          </a:prstGeom>
          <a:noFill/>
        </p:spPr>
        <p:txBody>
          <a:bodyPr wrap="square" lIns="0" rIns="0" tIns="0" bIns="0">
            <a:spAutoFit/>
          </a:bodyPr>
          <a:lstStyle/>
          <a:p>
            <a:pPr algn="r">
              <a:defRPr b="1" sz="1100">
                <a:solidFill>
                  <a:srgbClr val="78716C"/>
                </a:solidFill>
              </a:defRPr>
            </a:pPr>
            <a:r>
              <a:t>05 / 10</a:t>
            </a:r>
          </a:p>
        </p:txBody>
      </p:sp>
      <p:sp>
        <p:nvSpPr>
          <p:cNvPr id="5" name="TextBox 4"/>
          <p:cNvSpPr txBox="1"/>
          <p:nvPr/>
        </p:nvSpPr>
        <p:spPr>
          <a:xfrm>
            <a:off x="731520" y="658368"/>
            <a:ext cx="10728655" cy="594360"/>
          </a:xfrm>
          <a:prstGeom prst="rect">
            <a:avLst/>
          </a:prstGeom>
          <a:noFill/>
        </p:spPr>
        <p:txBody>
          <a:bodyPr wrap="square" lIns="0" rIns="0" tIns="0" bIns="0">
            <a:spAutoFit/>
          </a:bodyPr>
          <a:lstStyle/>
          <a:p>
            <a:pPr>
              <a:defRPr b="1" sz="2200">
                <a:solidFill>
                  <a:srgbClr val="1B4332"/>
                </a:solidFill>
              </a:defRPr>
            </a:pPr>
            <a:r>
              <a:t>HOW MANOMITRA WORKS</a:t>
            </a:r>
          </a:p>
        </p:txBody>
      </p:sp>
      <p:sp>
        <p:nvSpPr>
          <p:cNvPr id="6" name="TextBox 5"/>
          <p:cNvSpPr txBox="1"/>
          <p:nvPr/>
        </p:nvSpPr>
        <p:spPr>
          <a:xfrm>
            <a:off x="731520" y="1234440"/>
            <a:ext cx="10728655" cy="365760"/>
          </a:xfrm>
          <a:prstGeom prst="rect">
            <a:avLst/>
          </a:prstGeom>
          <a:noFill/>
        </p:spPr>
        <p:txBody>
          <a:bodyPr wrap="square" lIns="0" rIns="0" tIns="0" bIns="0">
            <a:spAutoFit/>
          </a:bodyPr>
          <a:lstStyle/>
          <a:p>
            <a:pPr>
              <a:defRPr sz="1200">
                <a:solidFill>
                  <a:srgbClr val="4E4741"/>
                </a:solidFill>
              </a:defRPr>
            </a:pPr>
            <a:r>
              <a:t>Frictionless for the senior. Actionable for the family.</a:t>
            </a:r>
          </a:p>
        </p:txBody>
      </p:sp>
      <p:sp>
        <p:nvSpPr>
          <p:cNvPr id="7" name="Rounded Rectangle 6"/>
          <p:cNvSpPr/>
          <p:nvPr/>
        </p:nvSpPr>
        <p:spPr>
          <a:xfrm>
            <a:off x="731520" y="1554480"/>
            <a:ext cx="3447288" cy="3200400"/>
          </a:xfrm>
          <a:prstGeom prst="roundRect">
            <a:avLst/>
          </a:prstGeom>
          <a:solidFill>
            <a:srgbClr val="EBF5EE"/>
          </a:solidFill>
          <a:ln w="15240">
            <a:solidFill>
              <a:srgbClr val="1B43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737360"/>
            <a:ext cx="3081528" cy="2834640"/>
          </a:xfrm>
          <a:prstGeom prst="rect">
            <a:avLst/>
          </a:prstGeom>
          <a:noFill/>
        </p:spPr>
        <p:txBody>
          <a:bodyPr wrap="square">
            <a:spAutoFit/>
          </a:bodyPr>
          <a:lstStyle/>
          <a:p>
            <a:pPr>
              <a:defRPr b="1" sz="1300">
                <a:solidFill>
                  <a:srgbClr val="1B4332"/>
                </a:solidFill>
              </a:defRPr>
            </a:pPr>
            <a:r>
              <a:t>SENIOR</a:t>
            </a:r>
          </a:p>
          <a:p>
            <a:pPr>
              <a:spcBef>
                <a:spcPts val="800"/>
              </a:spcBef>
              <a:defRPr b="1" sz="1100">
                <a:solidFill>
                  <a:srgbClr val="1C1917"/>
                </a:solidFill>
              </a:defRPr>
            </a:pPr>
            <a:r>
              <a:t>• Simple Entry</a:t>
            </a:r>
          </a:p>
          <a:p>
            <a:pPr>
              <a:defRPr sz="950">
                <a:solidFill>
                  <a:srgbClr val="4E4741"/>
                </a:solidFill>
              </a:defRPr>
            </a:pPr>
            <a:r>
              <a:t>1-tap passkey biometric or tactile PIN</a:t>
            </a:r>
          </a:p>
          <a:p>
            <a:pPr>
              <a:spcBef>
                <a:spcPts val="800"/>
              </a:spcBef>
              <a:defRPr b="1" sz="1100">
                <a:solidFill>
                  <a:srgbClr val="1C1917"/>
                </a:solidFill>
              </a:defRPr>
            </a:pPr>
            <a:r>
              <a:t>• 5-Min Cognitive Play</a:t>
            </a:r>
          </a:p>
          <a:p>
            <a:pPr>
              <a:defRPr sz="950">
                <a:solidFill>
                  <a:srgbClr val="4E4741"/>
                </a:solidFill>
              </a:defRPr>
            </a:pPr>
            <a:r>
              <a:t>Voice-guided culturally grounded games</a:t>
            </a:r>
          </a:p>
          <a:p>
            <a:pPr>
              <a:spcBef>
                <a:spcPts val="800"/>
              </a:spcBef>
              <a:defRPr b="1" sz="1100">
                <a:solidFill>
                  <a:srgbClr val="1C1917"/>
                </a:solidFill>
              </a:defRPr>
            </a:pPr>
            <a:r>
              <a:t>• Routine Check-In</a:t>
            </a:r>
          </a:p>
          <a:p>
            <a:pPr>
              <a:defRPr sz="950">
                <a:solidFill>
                  <a:srgbClr val="4E4741"/>
                </a:solidFill>
              </a:defRPr>
            </a:pPr>
            <a:r>
              <a:t>Morning medication &amp; hydration confirmation</a:t>
            </a:r>
          </a:p>
        </p:txBody>
      </p:sp>
      <p:sp>
        <p:nvSpPr>
          <p:cNvPr id="9" name="Rounded Rectangle 8"/>
          <p:cNvSpPr/>
          <p:nvPr/>
        </p:nvSpPr>
        <p:spPr>
          <a:xfrm>
            <a:off x="4361688" y="1554480"/>
            <a:ext cx="3447288" cy="3200400"/>
          </a:xfrm>
          <a:prstGeom prst="roundRect">
            <a:avLst/>
          </a:prstGeom>
          <a:solidFill>
            <a:srgbClr val="FFFFFF"/>
          </a:solidFill>
          <a:ln w="15240">
            <a:solidFill>
              <a:srgbClr val="2D6A4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44568" y="1737360"/>
            <a:ext cx="3081528" cy="2834640"/>
          </a:xfrm>
          <a:prstGeom prst="rect">
            <a:avLst/>
          </a:prstGeom>
          <a:noFill/>
        </p:spPr>
        <p:txBody>
          <a:bodyPr wrap="square">
            <a:spAutoFit/>
          </a:bodyPr>
          <a:lstStyle/>
          <a:p>
            <a:pPr>
              <a:defRPr b="1" sz="1300">
                <a:solidFill>
                  <a:srgbClr val="2D6A4F"/>
                </a:solidFill>
              </a:defRPr>
            </a:pPr>
            <a:r>
              <a:t>MANOMITRA ENGINE</a:t>
            </a:r>
          </a:p>
          <a:p>
            <a:pPr>
              <a:spcBef>
                <a:spcPts val="800"/>
              </a:spcBef>
              <a:defRPr b="1" sz="1100">
                <a:solidFill>
                  <a:srgbClr val="1C1917"/>
                </a:solidFill>
              </a:defRPr>
            </a:pPr>
            <a:r>
              <a:t>• Capture Performance</a:t>
            </a:r>
          </a:p>
          <a:p>
            <a:pPr>
              <a:defRPr sz="950">
                <a:solidFill>
                  <a:srgbClr val="4E4741"/>
                </a:solidFill>
              </a:defRPr>
            </a:pPr>
            <a:r>
              <a:t>Unobtrusive latency &amp; error recording</a:t>
            </a:r>
          </a:p>
          <a:p>
            <a:pPr>
              <a:spcBef>
                <a:spcPts val="800"/>
              </a:spcBef>
              <a:defRPr b="1" sz="1100">
                <a:solidFill>
                  <a:srgbClr val="1C1917"/>
                </a:solidFill>
              </a:defRPr>
            </a:pPr>
            <a:r>
              <a:t>• Adapt Difficulty</a:t>
            </a:r>
          </a:p>
          <a:p>
            <a:pPr>
              <a:defRPr sz="950">
                <a:solidFill>
                  <a:srgbClr val="4E4741"/>
                </a:solidFill>
              </a:defRPr>
            </a:pPr>
            <a:r>
              <a:t>Within-session pacing &amp; cross-session baseline</a:t>
            </a:r>
          </a:p>
          <a:p>
            <a:pPr>
              <a:spcBef>
                <a:spcPts val="800"/>
              </a:spcBef>
              <a:defRPr b="1" sz="1100">
                <a:solidFill>
                  <a:srgbClr val="1C1917"/>
                </a:solidFill>
              </a:defRPr>
            </a:pPr>
            <a:r>
              <a:t>• Store Locally &amp; Sync</a:t>
            </a:r>
          </a:p>
          <a:p>
            <a:pPr>
              <a:defRPr sz="950">
                <a:solidFill>
                  <a:srgbClr val="4E4741"/>
                </a:solidFill>
              </a:defRPr>
            </a:pPr>
            <a:r>
              <a:t>IndexedDB local persistence; sync on connect</a:t>
            </a:r>
          </a:p>
        </p:txBody>
      </p:sp>
      <p:sp>
        <p:nvSpPr>
          <p:cNvPr id="11" name="Rounded Rectangle 10"/>
          <p:cNvSpPr/>
          <p:nvPr/>
        </p:nvSpPr>
        <p:spPr>
          <a:xfrm>
            <a:off x="7991856" y="1554480"/>
            <a:ext cx="3447288" cy="3200400"/>
          </a:xfrm>
          <a:prstGeom prst="roundRect">
            <a:avLst/>
          </a:prstGeom>
          <a:solidFill>
            <a:srgbClr val="FDF2F4"/>
          </a:solidFill>
          <a:ln w="15240">
            <a:solidFill>
              <a:srgbClr val="6B1D2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174736" y="1737360"/>
            <a:ext cx="3081528" cy="2834640"/>
          </a:xfrm>
          <a:prstGeom prst="rect">
            <a:avLst/>
          </a:prstGeom>
          <a:noFill/>
        </p:spPr>
        <p:txBody>
          <a:bodyPr wrap="square">
            <a:spAutoFit/>
          </a:bodyPr>
          <a:lstStyle/>
          <a:p>
            <a:pPr>
              <a:defRPr b="1" sz="1300">
                <a:solidFill>
                  <a:srgbClr val="6B1D2F"/>
                </a:solidFill>
              </a:defRPr>
            </a:pPr>
            <a:r>
              <a:t>CAREGIVER</a:t>
            </a:r>
          </a:p>
          <a:p>
            <a:pPr>
              <a:spcBef>
                <a:spcPts val="800"/>
              </a:spcBef>
              <a:defRPr b="1" sz="1100">
                <a:solidFill>
                  <a:srgbClr val="1C1917"/>
                </a:solidFill>
              </a:defRPr>
            </a:pPr>
            <a:r>
              <a:t>• WhatsApp Updates</a:t>
            </a:r>
          </a:p>
          <a:p>
            <a:pPr>
              <a:defRPr sz="950">
                <a:solidFill>
                  <a:srgbClr val="4E4741"/>
                </a:solidFill>
              </a:defRPr>
            </a:pPr>
            <a:r>
              <a:t>Daily routine check-in confirmations</a:t>
            </a:r>
          </a:p>
          <a:p>
            <a:pPr>
              <a:spcBef>
                <a:spcPts val="800"/>
              </a:spcBef>
              <a:defRPr b="1" sz="1100">
                <a:solidFill>
                  <a:srgbClr val="1C1917"/>
                </a:solidFill>
              </a:defRPr>
            </a:pPr>
            <a:r>
              <a:t>• 7-Day Trends</a:t>
            </a:r>
          </a:p>
          <a:p>
            <a:pPr>
              <a:defRPr sz="950">
                <a:solidFill>
                  <a:srgbClr val="4E4741"/>
                </a:solidFill>
              </a:defRPr>
            </a:pPr>
            <a:r>
              <a:t>Visual adherence &amp; stability analytics</a:t>
            </a:r>
          </a:p>
          <a:p>
            <a:pPr>
              <a:spcBef>
                <a:spcPts val="800"/>
              </a:spcBef>
              <a:defRPr b="1" sz="1100">
                <a:solidFill>
                  <a:srgbClr val="1C1917"/>
                </a:solidFill>
              </a:defRPr>
            </a:pPr>
            <a:r>
              <a:t>• Red-Flag Signals</a:t>
            </a:r>
          </a:p>
          <a:p>
            <a:pPr>
              <a:defRPr sz="950">
                <a:solidFill>
                  <a:srgbClr val="4E4741"/>
                </a:solidFill>
              </a:defRPr>
            </a:pPr>
            <a:r>
              <a:t>Immediate alerts for missed routines</a:t>
            </a:r>
          </a:p>
        </p:txBody>
      </p:sp>
      <p:sp>
        <p:nvSpPr>
          <p:cNvPr id="13" name="TextBox 12"/>
          <p:cNvSpPr txBox="1"/>
          <p:nvPr/>
        </p:nvSpPr>
        <p:spPr>
          <a:xfrm>
            <a:off x="3995928" y="2926080"/>
            <a:ext cx="365760" cy="457200"/>
          </a:xfrm>
          <a:prstGeom prst="rect">
            <a:avLst/>
          </a:prstGeom>
          <a:noFill/>
        </p:spPr>
        <p:txBody>
          <a:bodyPr wrap="square" lIns="0" rIns="0" tIns="0" bIns="0">
            <a:spAutoFit/>
          </a:bodyPr>
          <a:lstStyle/>
          <a:p>
            <a:pPr algn="ctr">
              <a:defRPr b="1" sz="1800">
                <a:solidFill>
                  <a:srgbClr val="2D6A4F"/>
                </a:solidFill>
              </a:defRPr>
            </a:pPr>
            <a:r>
              <a:t>➔</a:t>
            </a:r>
          </a:p>
        </p:txBody>
      </p:sp>
      <p:sp>
        <p:nvSpPr>
          <p:cNvPr id="14" name="TextBox 13"/>
          <p:cNvSpPr txBox="1"/>
          <p:nvPr/>
        </p:nvSpPr>
        <p:spPr>
          <a:xfrm>
            <a:off x="7626096" y="2926080"/>
            <a:ext cx="365760" cy="457200"/>
          </a:xfrm>
          <a:prstGeom prst="rect">
            <a:avLst/>
          </a:prstGeom>
          <a:noFill/>
        </p:spPr>
        <p:txBody>
          <a:bodyPr wrap="square" lIns="0" rIns="0" tIns="0" bIns="0">
            <a:spAutoFit/>
          </a:bodyPr>
          <a:lstStyle/>
          <a:p>
            <a:pPr algn="ctr">
              <a:defRPr b="1" sz="1800">
                <a:solidFill>
                  <a:srgbClr val="2D6A4F"/>
                </a:solidFill>
              </a:defRPr>
            </a:pPr>
            <a:r>
              <a:t>➔</a:t>
            </a:r>
          </a:p>
        </p:txBody>
      </p:sp>
      <p:sp>
        <p:nvSpPr>
          <p:cNvPr id="15" name="Rounded Rectangle 14"/>
          <p:cNvSpPr/>
          <p:nvPr/>
        </p:nvSpPr>
        <p:spPr>
          <a:xfrm>
            <a:off x="731520" y="4983480"/>
            <a:ext cx="10728655" cy="1280160"/>
          </a:xfrm>
          <a:prstGeom prst="roundRect">
            <a:avLst/>
          </a:prstGeom>
          <a:solidFill>
            <a:srgbClr val="EBF5EE"/>
          </a:solidFill>
          <a:ln w="15240">
            <a:solidFill>
              <a:srgbClr val="2D6A4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4400" y="5148072"/>
            <a:ext cx="10362895" cy="320040"/>
          </a:xfrm>
          <a:prstGeom prst="rect">
            <a:avLst/>
          </a:prstGeom>
          <a:noFill/>
        </p:spPr>
        <p:txBody>
          <a:bodyPr wrap="square" lIns="0" rIns="0" tIns="0" bIns="0">
            <a:spAutoFit/>
          </a:bodyPr>
          <a:lstStyle/>
          <a:p>
            <a:pPr>
              <a:defRPr b="1" sz="1200">
                <a:solidFill>
                  <a:srgbClr val="1B4332"/>
                </a:solidFill>
              </a:defRPr>
            </a:pPr>
            <a:r>
              <a:t>OFFLINE-CAPABLE ARCHITECTURE</a:t>
            </a:r>
          </a:p>
        </p:txBody>
      </p:sp>
      <p:sp>
        <p:nvSpPr>
          <p:cNvPr id="17" name="Rounded Rectangle 16"/>
          <p:cNvSpPr/>
          <p:nvPr/>
        </p:nvSpPr>
        <p:spPr>
          <a:xfrm>
            <a:off x="1097280" y="5440680"/>
            <a:ext cx="1737360" cy="640080"/>
          </a:xfrm>
          <a:prstGeom prst="roundRect">
            <a:avLst/>
          </a:prstGeom>
          <a:solidFill>
            <a:srgbClr val="FFFFFF"/>
          </a:solidFill>
          <a:ln w="15240">
            <a:solidFill>
              <a:srgbClr val="1B43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97280" y="5486400"/>
            <a:ext cx="1737360" cy="548640"/>
          </a:xfrm>
          <a:prstGeom prst="rect">
            <a:avLst/>
          </a:prstGeom>
          <a:noFill/>
        </p:spPr>
        <p:txBody>
          <a:bodyPr wrap="none">
            <a:spAutoFit/>
          </a:bodyPr>
          <a:lstStyle/>
          <a:p>
            <a:pPr algn="ctr">
              <a:defRPr b="1" sz="950">
                <a:solidFill>
                  <a:srgbClr val="1B4332"/>
                </a:solidFill>
              </a:defRPr>
            </a:pPr>
            <a:r>
              <a:t>GAMEPLAY</a:t>
            </a:r>
          </a:p>
        </p:txBody>
      </p:sp>
      <p:sp>
        <p:nvSpPr>
          <p:cNvPr id="19" name="TextBox 18"/>
          <p:cNvSpPr txBox="1"/>
          <p:nvPr/>
        </p:nvSpPr>
        <p:spPr>
          <a:xfrm>
            <a:off x="2834640" y="5532120"/>
            <a:ext cx="365760" cy="365760"/>
          </a:xfrm>
          <a:prstGeom prst="rect">
            <a:avLst/>
          </a:prstGeom>
          <a:noFill/>
        </p:spPr>
        <p:txBody>
          <a:bodyPr wrap="square" lIns="0" rIns="0" tIns="0" bIns="0">
            <a:spAutoFit/>
          </a:bodyPr>
          <a:lstStyle/>
          <a:p>
            <a:pPr algn="ctr">
              <a:defRPr b="1" sz="1800">
                <a:solidFill>
                  <a:srgbClr val="2D6A4F"/>
                </a:solidFill>
              </a:defRPr>
            </a:pPr>
            <a:r>
              <a:t>➔</a:t>
            </a:r>
          </a:p>
        </p:txBody>
      </p:sp>
      <p:sp>
        <p:nvSpPr>
          <p:cNvPr id="20" name="Rounded Rectangle 19"/>
          <p:cNvSpPr/>
          <p:nvPr/>
        </p:nvSpPr>
        <p:spPr>
          <a:xfrm>
            <a:off x="3200400" y="5440680"/>
            <a:ext cx="1737360" cy="640080"/>
          </a:xfrm>
          <a:prstGeom prst="roundRect">
            <a:avLst/>
          </a:prstGeom>
          <a:solidFill>
            <a:srgbClr val="FFFFFF"/>
          </a:solidFill>
          <a:ln w="15240">
            <a:solidFill>
              <a:srgbClr val="1B43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200400" y="5486400"/>
            <a:ext cx="1737360" cy="548640"/>
          </a:xfrm>
          <a:prstGeom prst="rect">
            <a:avLst/>
          </a:prstGeom>
          <a:noFill/>
        </p:spPr>
        <p:txBody>
          <a:bodyPr wrap="none">
            <a:spAutoFit/>
          </a:bodyPr>
          <a:lstStyle/>
          <a:p>
            <a:pPr algn="ctr">
              <a:defRPr b="1" sz="950">
                <a:solidFill>
                  <a:srgbClr val="1B4332"/>
                </a:solidFill>
              </a:defRPr>
            </a:pPr>
            <a:r>
              <a:t>LOCAL STORAGE</a:t>
            </a:r>
            <a:br/>
            <a:r>
              <a:t>(IndexedDB)</a:t>
            </a:r>
          </a:p>
        </p:txBody>
      </p:sp>
      <p:sp>
        <p:nvSpPr>
          <p:cNvPr id="22" name="TextBox 21"/>
          <p:cNvSpPr txBox="1"/>
          <p:nvPr/>
        </p:nvSpPr>
        <p:spPr>
          <a:xfrm>
            <a:off x="4937760" y="5532120"/>
            <a:ext cx="365760" cy="365760"/>
          </a:xfrm>
          <a:prstGeom prst="rect">
            <a:avLst/>
          </a:prstGeom>
          <a:noFill/>
        </p:spPr>
        <p:txBody>
          <a:bodyPr wrap="square" lIns="0" rIns="0" tIns="0" bIns="0">
            <a:spAutoFit/>
          </a:bodyPr>
          <a:lstStyle/>
          <a:p>
            <a:pPr algn="ctr">
              <a:defRPr b="1" sz="1800">
                <a:solidFill>
                  <a:srgbClr val="2D6A4F"/>
                </a:solidFill>
              </a:defRPr>
            </a:pPr>
            <a:r>
              <a:t>➔</a:t>
            </a:r>
          </a:p>
        </p:txBody>
      </p:sp>
      <p:sp>
        <p:nvSpPr>
          <p:cNvPr id="23" name="Rounded Rectangle 22"/>
          <p:cNvSpPr/>
          <p:nvPr/>
        </p:nvSpPr>
        <p:spPr>
          <a:xfrm>
            <a:off x="5303520" y="5440680"/>
            <a:ext cx="1737360" cy="640080"/>
          </a:xfrm>
          <a:prstGeom prst="roundRect">
            <a:avLst/>
          </a:prstGeom>
          <a:solidFill>
            <a:srgbClr val="FFFFFF"/>
          </a:solidFill>
          <a:ln w="15240">
            <a:solidFill>
              <a:srgbClr val="1B43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303520" y="5486400"/>
            <a:ext cx="1737360" cy="548640"/>
          </a:xfrm>
          <a:prstGeom prst="rect">
            <a:avLst/>
          </a:prstGeom>
          <a:noFill/>
        </p:spPr>
        <p:txBody>
          <a:bodyPr wrap="none">
            <a:spAutoFit/>
          </a:bodyPr>
          <a:lstStyle/>
          <a:p>
            <a:pPr algn="ctr">
              <a:defRPr b="1" sz="950">
                <a:solidFill>
                  <a:srgbClr val="1B4332"/>
                </a:solidFill>
              </a:defRPr>
            </a:pPr>
            <a:r>
              <a:t>BACKGROUND</a:t>
            </a:r>
            <a:br/>
            <a:r>
              <a:t>SYNC QUEUE</a:t>
            </a:r>
          </a:p>
        </p:txBody>
      </p:sp>
      <p:sp>
        <p:nvSpPr>
          <p:cNvPr id="25" name="TextBox 24"/>
          <p:cNvSpPr txBox="1"/>
          <p:nvPr/>
        </p:nvSpPr>
        <p:spPr>
          <a:xfrm>
            <a:off x="7040880" y="5532120"/>
            <a:ext cx="365760" cy="365760"/>
          </a:xfrm>
          <a:prstGeom prst="rect">
            <a:avLst/>
          </a:prstGeom>
          <a:noFill/>
        </p:spPr>
        <p:txBody>
          <a:bodyPr wrap="square" lIns="0" rIns="0" tIns="0" bIns="0">
            <a:spAutoFit/>
          </a:bodyPr>
          <a:lstStyle/>
          <a:p>
            <a:pPr algn="ctr">
              <a:defRPr b="1" sz="1800">
                <a:solidFill>
                  <a:srgbClr val="2D6A4F"/>
                </a:solidFill>
              </a:defRPr>
            </a:pPr>
            <a:r>
              <a:t>➔</a:t>
            </a:r>
          </a:p>
        </p:txBody>
      </p:sp>
      <p:sp>
        <p:nvSpPr>
          <p:cNvPr id="26" name="Rounded Rectangle 25"/>
          <p:cNvSpPr/>
          <p:nvPr/>
        </p:nvSpPr>
        <p:spPr>
          <a:xfrm>
            <a:off x="7406640" y="5440680"/>
            <a:ext cx="1737360" cy="640080"/>
          </a:xfrm>
          <a:prstGeom prst="roundRect">
            <a:avLst/>
          </a:prstGeom>
          <a:solidFill>
            <a:srgbClr val="FFFFFF"/>
          </a:solidFill>
          <a:ln w="15240">
            <a:solidFill>
              <a:srgbClr val="1B43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406640" y="5486400"/>
            <a:ext cx="1737360" cy="548640"/>
          </a:xfrm>
          <a:prstGeom prst="rect">
            <a:avLst/>
          </a:prstGeom>
          <a:noFill/>
        </p:spPr>
        <p:txBody>
          <a:bodyPr wrap="none">
            <a:spAutoFit/>
          </a:bodyPr>
          <a:lstStyle/>
          <a:p>
            <a:pPr algn="ctr">
              <a:defRPr b="1" sz="950">
                <a:solidFill>
                  <a:srgbClr val="1B4332"/>
                </a:solidFill>
              </a:defRPr>
            </a:pPr>
            <a:r>
              <a:t>INTERNET</a:t>
            </a:r>
            <a:br/>
            <a:r>
              <a:t>RETURNS</a:t>
            </a:r>
          </a:p>
        </p:txBody>
      </p:sp>
      <p:sp>
        <p:nvSpPr>
          <p:cNvPr id="28" name="TextBox 27"/>
          <p:cNvSpPr txBox="1"/>
          <p:nvPr/>
        </p:nvSpPr>
        <p:spPr>
          <a:xfrm>
            <a:off x="9144000" y="5532120"/>
            <a:ext cx="365760" cy="365760"/>
          </a:xfrm>
          <a:prstGeom prst="rect">
            <a:avLst/>
          </a:prstGeom>
          <a:noFill/>
        </p:spPr>
        <p:txBody>
          <a:bodyPr wrap="square" lIns="0" rIns="0" tIns="0" bIns="0">
            <a:spAutoFit/>
          </a:bodyPr>
          <a:lstStyle/>
          <a:p>
            <a:pPr algn="ctr">
              <a:defRPr b="1" sz="1800">
                <a:solidFill>
                  <a:srgbClr val="2D6A4F"/>
                </a:solidFill>
              </a:defRPr>
            </a:pPr>
            <a:r>
              <a:t>➔</a:t>
            </a:r>
          </a:p>
        </p:txBody>
      </p:sp>
      <p:sp>
        <p:nvSpPr>
          <p:cNvPr id="29" name="Rounded Rectangle 28"/>
          <p:cNvSpPr/>
          <p:nvPr/>
        </p:nvSpPr>
        <p:spPr>
          <a:xfrm>
            <a:off x="9509760" y="5440680"/>
            <a:ext cx="1737360" cy="640080"/>
          </a:xfrm>
          <a:prstGeom prst="roundRect">
            <a:avLst/>
          </a:prstGeom>
          <a:solidFill>
            <a:srgbClr val="FFFFFF"/>
          </a:solidFill>
          <a:ln w="15240">
            <a:solidFill>
              <a:srgbClr val="1B43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509760" y="5486400"/>
            <a:ext cx="1737360" cy="548640"/>
          </a:xfrm>
          <a:prstGeom prst="rect">
            <a:avLst/>
          </a:prstGeom>
          <a:noFill/>
        </p:spPr>
        <p:txBody>
          <a:bodyPr wrap="none">
            <a:spAutoFit/>
          </a:bodyPr>
          <a:lstStyle/>
          <a:p>
            <a:pPr algn="ctr">
              <a:defRPr b="1" sz="950">
                <a:solidFill>
                  <a:srgbClr val="1B4332"/>
                </a:solidFill>
              </a:defRPr>
            </a:pPr>
            <a:r>
              <a:t>CLOUD</a:t>
            </a:r>
            <a:br/>
            <a:r>
              <a:t>SYNC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3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320040"/>
          </a:xfrm>
          <a:prstGeom prst="rect">
            <a:avLst/>
          </a:prstGeom>
          <a:noFill/>
        </p:spPr>
        <p:txBody>
          <a:bodyPr wrap="square" lIns="0" rIns="0" tIns="0" bIns="0">
            <a:spAutoFit/>
          </a:bodyPr>
          <a:lstStyle/>
          <a:p>
            <a:pPr>
              <a:defRPr b="1" sz="1000">
                <a:solidFill>
                  <a:srgbClr val="2D6A4F"/>
                </a:solidFill>
              </a:defRPr>
            </a:pPr>
            <a:r>
              <a:t>MANOMITRA</a:t>
            </a:r>
          </a:p>
        </p:txBody>
      </p:sp>
      <p:sp>
        <p:nvSpPr>
          <p:cNvPr id="4" name="TextBox 3"/>
          <p:cNvSpPr txBox="1"/>
          <p:nvPr/>
        </p:nvSpPr>
        <p:spPr>
          <a:xfrm>
            <a:off x="9601200" y="365760"/>
            <a:ext cx="1858975" cy="320040"/>
          </a:xfrm>
          <a:prstGeom prst="rect">
            <a:avLst/>
          </a:prstGeom>
          <a:noFill/>
        </p:spPr>
        <p:txBody>
          <a:bodyPr wrap="square" lIns="0" rIns="0" tIns="0" bIns="0">
            <a:spAutoFit/>
          </a:bodyPr>
          <a:lstStyle/>
          <a:p>
            <a:pPr algn="r">
              <a:defRPr b="1" sz="1100">
                <a:solidFill>
                  <a:srgbClr val="78716C"/>
                </a:solidFill>
              </a:defRPr>
            </a:pPr>
            <a:r>
              <a:t>06 / 10</a:t>
            </a:r>
          </a:p>
        </p:txBody>
      </p:sp>
      <p:sp>
        <p:nvSpPr>
          <p:cNvPr id="5" name="TextBox 4"/>
          <p:cNvSpPr txBox="1"/>
          <p:nvPr/>
        </p:nvSpPr>
        <p:spPr>
          <a:xfrm>
            <a:off x="731520" y="658368"/>
            <a:ext cx="10728655" cy="594360"/>
          </a:xfrm>
          <a:prstGeom prst="rect">
            <a:avLst/>
          </a:prstGeom>
          <a:noFill/>
        </p:spPr>
        <p:txBody>
          <a:bodyPr wrap="square" lIns="0" rIns="0" tIns="0" bIns="0">
            <a:spAutoFit/>
          </a:bodyPr>
          <a:lstStyle/>
          <a:p>
            <a:pPr>
              <a:defRPr b="1" sz="2200">
                <a:solidFill>
                  <a:srgbClr val="1B4332"/>
                </a:solidFill>
              </a:defRPr>
            </a:pPr>
            <a:r>
              <a:t>WORKING PROTOTYPE</a:t>
            </a:r>
          </a:p>
        </p:txBody>
      </p:sp>
      <p:sp>
        <p:nvSpPr>
          <p:cNvPr id="6" name="TextBox 5"/>
          <p:cNvSpPr txBox="1"/>
          <p:nvPr/>
        </p:nvSpPr>
        <p:spPr>
          <a:xfrm>
            <a:off x="731520" y="1234440"/>
            <a:ext cx="10728655" cy="365760"/>
          </a:xfrm>
          <a:prstGeom prst="rect">
            <a:avLst/>
          </a:prstGeom>
          <a:noFill/>
        </p:spPr>
        <p:txBody>
          <a:bodyPr wrap="square" lIns="0" rIns="0" tIns="0" bIns="0">
            <a:spAutoFit/>
          </a:bodyPr>
          <a:lstStyle/>
          <a:p>
            <a:pPr>
              <a:defRPr sz="1200">
                <a:solidFill>
                  <a:srgbClr val="4E4741"/>
                </a:solidFill>
              </a:defRPr>
            </a:pPr>
            <a:r>
              <a:t>Tested core functionality across patient interface, edge storage, and caregiver notification.</a:t>
            </a:r>
          </a:p>
        </p:txBody>
      </p:sp>
      <p:sp>
        <p:nvSpPr>
          <p:cNvPr id="7" name="Rounded Rectangle 6"/>
          <p:cNvSpPr/>
          <p:nvPr/>
        </p:nvSpPr>
        <p:spPr>
          <a:xfrm>
            <a:off x="731520" y="1645920"/>
            <a:ext cx="3383280" cy="1371600"/>
          </a:xfrm>
          <a:prstGeom prst="roundRect">
            <a:avLst/>
          </a:prstGeom>
          <a:solidFill>
            <a:srgbClr val="FFFFFF"/>
          </a:solidFill>
          <a:ln w="15240">
            <a:solidFill>
              <a:srgbClr val="1B43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828800"/>
            <a:ext cx="3017520" cy="1005840"/>
          </a:xfrm>
          <a:prstGeom prst="rect">
            <a:avLst/>
          </a:prstGeom>
          <a:noFill/>
        </p:spPr>
        <p:txBody>
          <a:bodyPr wrap="square">
            <a:spAutoFit/>
          </a:bodyPr>
          <a:lstStyle/>
          <a:p>
            <a:pPr>
              <a:defRPr b="1" sz="1200">
                <a:solidFill>
                  <a:srgbClr val="1B4332"/>
                </a:solidFill>
              </a:defRPr>
            </a:pPr>
            <a:r>
              <a:t>🎮 5 Cognitive Games</a:t>
            </a:r>
          </a:p>
          <a:p>
            <a:pPr>
              <a:spcBef>
                <a:spcPts val="300"/>
              </a:spcBef>
              <a:defRPr sz="950">
                <a:solidFill>
                  <a:srgbClr val="4E4741"/>
                </a:solidFill>
              </a:defRPr>
            </a:pPr>
            <a:r>
              <a:t>Market Day Basket • Daily Routine Sequencer • Faces &amp; Recall • Odd One Out • Sound &amp; Rhythm Match</a:t>
            </a:r>
          </a:p>
        </p:txBody>
      </p:sp>
      <p:sp>
        <p:nvSpPr>
          <p:cNvPr id="9" name="Rounded Rectangle 8"/>
          <p:cNvSpPr/>
          <p:nvPr/>
        </p:nvSpPr>
        <p:spPr>
          <a:xfrm>
            <a:off x="4297680" y="1645920"/>
            <a:ext cx="3383280" cy="1371600"/>
          </a:xfrm>
          <a:prstGeom prst="roundRect">
            <a:avLst/>
          </a:prstGeom>
          <a:solidFill>
            <a:srgbClr val="FFFFFF"/>
          </a:solidFill>
          <a:ln w="15240">
            <a:solidFill>
              <a:srgbClr val="1B43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480560" y="1828800"/>
            <a:ext cx="3017520" cy="1005840"/>
          </a:xfrm>
          <a:prstGeom prst="rect">
            <a:avLst/>
          </a:prstGeom>
          <a:noFill/>
        </p:spPr>
        <p:txBody>
          <a:bodyPr wrap="square">
            <a:spAutoFit/>
          </a:bodyPr>
          <a:lstStyle/>
          <a:p>
            <a:pPr>
              <a:defRPr b="1" sz="1200">
                <a:solidFill>
                  <a:srgbClr val="1B4332"/>
                </a:solidFill>
              </a:defRPr>
            </a:pPr>
            <a:r>
              <a:t>📱 Offline-First PWA</a:t>
            </a:r>
          </a:p>
          <a:p>
            <a:pPr>
              <a:spcBef>
                <a:spcPts val="300"/>
              </a:spcBef>
              <a:defRPr sz="950">
                <a:solidFill>
                  <a:srgbClr val="4E4741"/>
                </a:solidFill>
              </a:defRPr>
            </a:pPr>
            <a:r>
              <a:t>React 19 + Workbox caching for zero-internet operation and IndexedDB local routine persistence</a:t>
            </a:r>
          </a:p>
        </p:txBody>
      </p:sp>
      <p:sp>
        <p:nvSpPr>
          <p:cNvPr id="11" name="Rounded Rectangle 10"/>
          <p:cNvSpPr/>
          <p:nvPr/>
        </p:nvSpPr>
        <p:spPr>
          <a:xfrm>
            <a:off x="731520" y="3154680"/>
            <a:ext cx="3383280" cy="1371600"/>
          </a:xfrm>
          <a:prstGeom prst="roundRect">
            <a:avLst/>
          </a:prstGeom>
          <a:solidFill>
            <a:srgbClr val="FFFFFF"/>
          </a:solidFill>
          <a:ln w="15240">
            <a:solidFill>
              <a:srgbClr val="1B43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3337560"/>
            <a:ext cx="3017520" cy="1005840"/>
          </a:xfrm>
          <a:prstGeom prst="rect">
            <a:avLst/>
          </a:prstGeom>
          <a:noFill/>
        </p:spPr>
        <p:txBody>
          <a:bodyPr wrap="square">
            <a:spAutoFit/>
          </a:bodyPr>
          <a:lstStyle/>
          <a:p>
            <a:pPr>
              <a:defRPr b="1" sz="1200">
                <a:solidFill>
                  <a:srgbClr val="1B4332"/>
                </a:solidFill>
              </a:defRPr>
            </a:pPr>
            <a:r>
              <a:t>🤖 Adaptive Engine</a:t>
            </a:r>
          </a:p>
          <a:p>
            <a:pPr>
              <a:spcBef>
                <a:spcPts val="300"/>
              </a:spcBef>
              <a:defRPr sz="950">
                <a:solidFill>
                  <a:srgbClr val="4E4741"/>
                </a:solidFill>
              </a:defRPr>
            </a:pPr>
            <a:r>
              <a:t>FastAPI microservice evaluating response latency and error clusters to calibrate task difficulty</a:t>
            </a:r>
          </a:p>
        </p:txBody>
      </p:sp>
      <p:sp>
        <p:nvSpPr>
          <p:cNvPr id="13" name="Rounded Rectangle 12"/>
          <p:cNvSpPr/>
          <p:nvPr/>
        </p:nvSpPr>
        <p:spPr>
          <a:xfrm>
            <a:off x="4297680" y="3154680"/>
            <a:ext cx="3383280" cy="1371600"/>
          </a:xfrm>
          <a:prstGeom prst="roundRect">
            <a:avLst/>
          </a:prstGeom>
          <a:solidFill>
            <a:srgbClr val="FFFFFF"/>
          </a:solidFill>
          <a:ln w="15240">
            <a:solidFill>
              <a:srgbClr val="1B43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480560" y="3337560"/>
            <a:ext cx="3017520" cy="1005840"/>
          </a:xfrm>
          <a:prstGeom prst="rect">
            <a:avLst/>
          </a:prstGeom>
          <a:noFill/>
        </p:spPr>
        <p:txBody>
          <a:bodyPr wrap="square">
            <a:spAutoFit/>
          </a:bodyPr>
          <a:lstStyle/>
          <a:p>
            <a:pPr>
              <a:defRPr b="1" sz="1200">
                <a:solidFill>
                  <a:srgbClr val="1B4332"/>
                </a:solidFill>
              </a:defRPr>
            </a:pPr>
            <a:r>
              <a:t>👨‍👩‍👧 Caregiver Portal</a:t>
            </a:r>
          </a:p>
          <a:p>
            <a:pPr>
              <a:spcBef>
                <a:spcPts val="300"/>
              </a:spcBef>
              <a:defRPr sz="950">
                <a:solidFill>
                  <a:srgbClr val="4E4741"/>
                </a:solidFill>
              </a:defRPr>
            </a:pPr>
            <a:r>
              <a:t>Web command center visualizing 7-day adherence curves, latency trends, and emergency red-flags</a:t>
            </a:r>
          </a:p>
        </p:txBody>
      </p:sp>
      <p:sp>
        <p:nvSpPr>
          <p:cNvPr id="15" name="Rounded Rectangle 14"/>
          <p:cNvSpPr/>
          <p:nvPr/>
        </p:nvSpPr>
        <p:spPr>
          <a:xfrm>
            <a:off x="731520" y="4663440"/>
            <a:ext cx="6949440" cy="1371600"/>
          </a:xfrm>
          <a:prstGeom prst="roundRect">
            <a:avLst/>
          </a:prstGeom>
          <a:solidFill>
            <a:srgbClr val="FFFFFF"/>
          </a:solidFill>
          <a:ln w="15240">
            <a:solidFill>
              <a:srgbClr val="6B1D2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4400" y="4846320"/>
            <a:ext cx="6583680" cy="1005840"/>
          </a:xfrm>
          <a:prstGeom prst="rect">
            <a:avLst/>
          </a:prstGeom>
          <a:noFill/>
        </p:spPr>
        <p:txBody>
          <a:bodyPr wrap="square">
            <a:spAutoFit/>
          </a:bodyPr>
          <a:lstStyle/>
          <a:p>
            <a:pPr>
              <a:defRPr b="1" sz="1200">
                <a:solidFill>
                  <a:srgbClr val="6B1D2F"/>
                </a:solidFill>
              </a:defRPr>
            </a:pPr>
            <a:r>
              <a:t>💬 WhatsApp Companion</a:t>
            </a:r>
          </a:p>
          <a:p>
            <a:pPr>
              <a:spcBef>
                <a:spcPts val="300"/>
              </a:spcBef>
              <a:defRPr sz="950">
                <a:solidFill>
                  <a:srgbClr val="4E4741"/>
                </a:solidFill>
              </a:defRPr>
            </a:pPr>
            <a:r>
              <a:t>Live WhatsApp Cloud API test bot (wa.me/15556680031) delivering routine nudges and confirmations</a:t>
            </a:r>
          </a:p>
        </p:txBody>
      </p:sp>
      <p:sp>
        <p:nvSpPr>
          <p:cNvPr id="17" name="Rounded Rectangle 16"/>
          <p:cNvSpPr/>
          <p:nvPr/>
        </p:nvSpPr>
        <p:spPr>
          <a:xfrm>
            <a:off x="7863840" y="1645920"/>
            <a:ext cx="3596335" cy="4389120"/>
          </a:xfrm>
          <a:prstGeom prst="roundRect">
            <a:avLst/>
          </a:prstGeom>
          <a:solidFill>
            <a:srgbClr val="FFFFFF"/>
          </a:solidFill>
          <a:ln w="15240">
            <a:solidFill>
              <a:srgbClr val="E2DCD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046720" y="1810512"/>
            <a:ext cx="3230575" cy="320040"/>
          </a:xfrm>
          <a:prstGeom prst="rect">
            <a:avLst/>
          </a:prstGeom>
          <a:noFill/>
        </p:spPr>
        <p:txBody>
          <a:bodyPr wrap="square" lIns="0" rIns="0" tIns="0" bIns="0">
            <a:spAutoFit/>
          </a:bodyPr>
          <a:lstStyle/>
          <a:p>
            <a:pPr>
              <a:defRPr b="1" sz="1200">
                <a:solidFill>
                  <a:srgbClr val="1B4332"/>
                </a:solidFill>
              </a:defRPr>
            </a:pPr>
            <a:r>
              <a:t>PROJECT STATUS: BUILT VS PLANNED</a:t>
            </a:r>
          </a:p>
        </p:txBody>
      </p:sp>
      <p:sp>
        <p:nvSpPr>
          <p:cNvPr id="19" name="TextBox 18"/>
          <p:cNvSpPr txBox="1"/>
          <p:nvPr/>
        </p:nvSpPr>
        <p:spPr>
          <a:xfrm>
            <a:off x="8046720" y="2057400"/>
            <a:ext cx="3230575" cy="3840480"/>
          </a:xfrm>
          <a:prstGeom prst="rect">
            <a:avLst/>
          </a:prstGeom>
          <a:noFill/>
        </p:spPr>
        <p:txBody>
          <a:bodyPr wrap="square">
            <a:spAutoFit/>
          </a:bodyPr>
          <a:lstStyle/>
          <a:p>
            <a:pPr>
              <a:defRPr b="1" sz="1100">
                <a:solidFill>
                  <a:srgbClr val="1B4332"/>
                </a:solidFill>
              </a:defRPr>
            </a:pPr>
            <a:r>
              <a:t>BUILT &amp; FUNCTIONAL:</a:t>
            </a:r>
          </a:p>
          <a:p>
            <a:pPr>
              <a:defRPr sz="950">
                <a:solidFill>
                  <a:srgbClr val="1C1917"/>
                </a:solidFill>
              </a:defRPr>
            </a:pPr>
            <a:r>
              <a:t>✓ 5 Clinically mapped games</a:t>
            </a:r>
          </a:p>
          <a:p>
            <a:pPr>
              <a:defRPr sz="950">
                <a:solidFill>
                  <a:srgbClr val="1C1917"/>
                </a:solidFill>
              </a:defRPr>
            </a:pPr>
            <a:r>
              <a:t>✓ Offline PWA &amp; IndexedDB sync</a:t>
            </a:r>
          </a:p>
          <a:p>
            <a:pPr>
              <a:defRPr sz="950">
                <a:solidFill>
                  <a:srgbClr val="1C1917"/>
                </a:solidFill>
              </a:defRPr>
            </a:pPr>
            <a:r>
              <a:t>✓ Adaptive difficulty microservice</a:t>
            </a:r>
          </a:p>
          <a:p>
            <a:pPr>
              <a:defRPr sz="950">
                <a:solidFill>
                  <a:srgbClr val="1C1917"/>
                </a:solidFill>
              </a:defRPr>
            </a:pPr>
            <a:r>
              <a:t>✓ Caregiver web portal</a:t>
            </a:r>
          </a:p>
          <a:p>
            <a:pPr>
              <a:defRPr sz="950">
                <a:solidFill>
                  <a:srgbClr val="1C1917"/>
                </a:solidFill>
              </a:defRPr>
            </a:pPr>
            <a:r>
              <a:t>✓ WhatsApp companion bot</a:t>
            </a:r>
          </a:p>
          <a:p>
            <a:pPr>
              <a:spcBef>
                <a:spcPts val="1400"/>
              </a:spcBef>
              <a:defRPr b="1" sz="1100">
                <a:solidFill>
                  <a:srgbClr val="6B1D2F"/>
                </a:solidFill>
              </a:defRPr>
            </a:pPr>
            <a:r>
              <a:t>PLANNED ROADMAP:</a:t>
            </a:r>
          </a:p>
          <a:p>
            <a:pPr>
              <a:defRPr sz="950">
                <a:solidFill>
                  <a:srgbClr val="4E4741"/>
                </a:solidFill>
              </a:defRPr>
            </a:pPr>
            <a:r>
              <a:t>⏳ Feature phone IVR/SMS mode</a:t>
            </a:r>
          </a:p>
          <a:p>
            <a:pPr>
              <a:defRPr sz="950">
                <a:solidFill>
                  <a:srgbClr val="4E4741"/>
                </a:solidFill>
              </a:defRPr>
            </a:pPr>
            <a:r>
              <a:t>⏳ ASHA worker community tablet kiosk</a:t>
            </a:r>
          </a:p>
          <a:p>
            <a:pPr>
              <a:defRPr sz="950">
                <a:solidFill>
                  <a:srgbClr val="4E4741"/>
                </a:solidFill>
              </a:defRPr>
            </a:pPr>
            <a:r>
              <a:t>⏳ Tele-MANAS helpline referral integration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3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320040"/>
          </a:xfrm>
          <a:prstGeom prst="rect">
            <a:avLst/>
          </a:prstGeom>
          <a:noFill/>
        </p:spPr>
        <p:txBody>
          <a:bodyPr wrap="square" lIns="0" rIns="0" tIns="0" bIns="0">
            <a:spAutoFit/>
          </a:bodyPr>
          <a:lstStyle/>
          <a:p>
            <a:pPr>
              <a:defRPr b="1" sz="1000">
                <a:solidFill>
                  <a:srgbClr val="2D6A4F"/>
                </a:solidFill>
              </a:defRPr>
            </a:pPr>
            <a:r>
              <a:t>MANOMITRA</a:t>
            </a:r>
          </a:p>
        </p:txBody>
      </p:sp>
      <p:sp>
        <p:nvSpPr>
          <p:cNvPr id="4" name="TextBox 3"/>
          <p:cNvSpPr txBox="1"/>
          <p:nvPr/>
        </p:nvSpPr>
        <p:spPr>
          <a:xfrm>
            <a:off x="9601200" y="365760"/>
            <a:ext cx="1858975" cy="320040"/>
          </a:xfrm>
          <a:prstGeom prst="rect">
            <a:avLst/>
          </a:prstGeom>
          <a:noFill/>
        </p:spPr>
        <p:txBody>
          <a:bodyPr wrap="square" lIns="0" rIns="0" tIns="0" bIns="0">
            <a:spAutoFit/>
          </a:bodyPr>
          <a:lstStyle/>
          <a:p>
            <a:pPr algn="r">
              <a:defRPr b="1" sz="1100">
                <a:solidFill>
                  <a:srgbClr val="78716C"/>
                </a:solidFill>
              </a:defRPr>
            </a:pPr>
            <a:r>
              <a:t>07 / 10</a:t>
            </a:r>
          </a:p>
        </p:txBody>
      </p:sp>
      <p:sp>
        <p:nvSpPr>
          <p:cNvPr id="5" name="TextBox 4"/>
          <p:cNvSpPr txBox="1"/>
          <p:nvPr/>
        </p:nvSpPr>
        <p:spPr>
          <a:xfrm>
            <a:off x="731520" y="658368"/>
            <a:ext cx="10728655" cy="594360"/>
          </a:xfrm>
          <a:prstGeom prst="rect">
            <a:avLst/>
          </a:prstGeom>
          <a:noFill/>
        </p:spPr>
        <p:txBody>
          <a:bodyPr wrap="square" lIns="0" rIns="0" tIns="0" bIns="0">
            <a:spAutoFit/>
          </a:bodyPr>
          <a:lstStyle/>
          <a:p>
            <a:pPr>
              <a:defRPr b="1" sz="2200">
                <a:solidFill>
                  <a:srgbClr val="1B4332"/>
                </a:solidFill>
              </a:defRPr>
            </a:pPr>
            <a:r>
              <a:t>WHERE AI ACTUALLY FITS</a:t>
            </a:r>
          </a:p>
        </p:txBody>
      </p:sp>
      <p:sp>
        <p:nvSpPr>
          <p:cNvPr id="6" name="TextBox 5"/>
          <p:cNvSpPr txBox="1"/>
          <p:nvPr/>
        </p:nvSpPr>
        <p:spPr>
          <a:xfrm>
            <a:off x="731520" y="1234440"/>
            <a:ext cx="10728655" cy="365760"/>
          </a:xfrm>
          <a:prstGeom prst="rect">
            <a:avLst/>
          </a:prstGeom>
          <a:noFill/>
        </p:spPr>
        <p:txBody>
          <a:bodyPr wrap="square" lIns="0" rIns="0" tIns="0" bIns="0">
            <a:spAutoFit/>
          </a:bodyPr>
          <a:lstStyle/>
          <a:p>
            <a:pPr>
              <a:defRPr sz="1200">
                <a:solidFill>
                  <a:srgbClr val="4E4741"/>
                </a:solidFill>
              </a:defRPr>
            </a:pPr>
            <a:r>
              <a:t>Purpose-built, explainable intelligence. Not a diagnostic system.</a:t>
            </a:r>
          </a:p>
        </p:txBody>
      </p:sp>
      <p:sp>
        <p:nvSpPr>
          <p:cNvPr id="7" name="Rounded Rectangle 6"/>
          <p:cNvSpPr/>
          <p:nvPr/>
        </p:nvSpPr>
        <p:spPr>
          <a:xfrm>
            <a:off x="731520" y="1645920"/>
            <a:ext cx="5486400" cy="4663440"/>
          </a:xfrm>
          <a:prstGeom prst="roundRect">
            <a:avLst/>
          </a:prstGeom>
          <a:solidFill>
            <a:srgbClr val="FFFFFF"/>
          </a:solidFill>
          <a:ln w="15240">
            <a:solidFill>
              <a:srgbClr val="1B43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810512"/>
            <a:ext cx="5120640" cy="320040"/>
          </a:xfrm>
          <a:prstGeom prst="rect">
            <a:avLst/>
          </a:prstGeom>
          <a:noFill/>
        </p:spPr>
        <p:txBody>
          <a:bodyPr wrap="square" lIns="0" rIns="0" tIns="0" bIns="0">
            <a:spAutoFit/>
          </a:bodyPr>
          <a:lstStyle/>
          <a:p>
            <a:pPr>
              <a:defRPr b="1" sz="1200">
                <a:solidFill>
                  <a:srgbClr val="1B4332"/>
                </a:solidFill>
              </a:defRPr>
            </a:pPr>
            <a:r>
              <a:t>APPLIED ADAPTIVE PIPELINE</a:t>
            </a:r>
          </a:p>
        </p:txBody>
      </p:sp>
      <p:sp>
        <p:nvSpPr>
          <p:cNvPr id="9" name="Rounded Rectangle 8"/>
          <p:cNvSpPr/>
          <p:nvPr/>
        </p:nvSpPr>
        <p:spPr>
          <a:xfrm>
            <a:off x="1005840" y="2103120"/>
            <a:ext cx="4937760" cy="731520"/>
          </a:xfrm>
          <a:prstGeom prst="roundRect">
            <a:avLst/>
          </a:prstGeom>
          <a:solidFill>
            <a:srgbClr val="FFFFFF"/>
          </a:solidFill>
          <a:ln w="15240">
            <a:solidFill>
              <a:srgbClr val="1B43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43000" y="2194560"/>
            <a:ext cx="4663440" cy="548640"/>
          </a:xfrm>
          <a:prstGeom prst="rect">
            <a:avLst/>
          </a:prstGeom>
          <a:noFill/>
        </p:spPr>
        <p:txBody>
          <a:bodyPr wrap="none">
            <a:spAutoFit/>
          </a:bodyPr>
          <a:lstStyle/>
          <a:p>
            <a:pPr>
              <a:defRPr b="1" sz="1050">
                <a:solidFill>
                  <a:srgbClr val="1B4332"/>
                </a:solidFill>
              </a:defRPr>
            </a:pPr>
            <a:r>
              <a:t>USER PERFORMANCE INPUT</a:t>
            </a:r>
          </a:p>
          <a:p>
            <a:pPr>
              <a:defRPr sz="900">
                <a:solidFill>
                  <a:srgbClr val="4E4741"/>
                </a:solidFill>
              </a:defRPr>
            </a:pPr>
            <a:r>
              <a:t>Accuracy • Reaction Time • Mistakes • Pauses</a:t>
            </a:r>
          </a:p>
        </p:txBody>
      </p:sp>
      <p:sp>
        <p:nvSpPr>
          <p:cNvPr id="11" name="TextBox 10"/>
          <p:cNvSpPr txBox="1"/>
          <p:nvPr/>
        </p:nvSpPr>
        <p:spPr>
          <a:xfrm>
            <a:off x="3200400" y="2816352"/>
            <a:ext cx="548640" cy="274320"/>
          </a:xfrm>
          <a:prstGeom prst="rect">
            <a:avLst/>
          </a:prstGeom>
          <a:noFill/>
        </p:spPr>
        <p:txBody>
          <a:bodyPr wrap="square" lIns="0" rIns="0" tIns="0" bIns="0">
            <a:spAutoFit/>
          </a:bodyPr>
          <a:lstStyle/>
          <a:p>
            <a:pPr algn="ctr">
              <a:defRPr b="1" sz="1800">
                <a:solidFill>
                  <a:srgbClr val="2D6A4F"/>
                </a:solidFill>
              </a:defRPr>
            </a:pPr>
            <a:r>
              <a:t>↓</a:t>
            </a:r>
          </a:p>
        </p:txBody>
      </p:sp>
      <p:sp>
        <p:nvSpPr>
          <p:cNvPr id="12" name="Rounded Rectangle 11"/>
          <p:cNvSpPr/>
          <p:nvPr/>
        </p:nvSpPr>
        <p:spPr>
          <a:xfrm>
            <a:off x="1005840" y="3063240"/>
            <a:ext cx="4937760" cy="731520"/>
          </a:xfrm>
          <a:prstGeom prst="roundRect">
            <a:avLst/>
          </a:prstGeom>
          <a:solidFill>
            <a:srgbClr val="FFFFFF"/>
          </a:solidFill>
          <a:ln w="15240">
            <a:solidFill>
              <a:srgbClr val="2D6A4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43000" y="3154680"/>
            <a:ext cx="4663440" cy="548640"/>
          </a:xfrm>
          <a:prstGeom prst="rect">
            <a:avLst/>
          </a:prstGeom>
          <a:noFill/>
        </p:spPr>
        <p:txBody>
          <a:bodyPr wrap="none">
            <a:spAutoFit/>
          </a:bodyPr>
          <a:lstStyle/>
          <a:p>
            <a:pPr>
              <a:defRPr b="1" sz="1050">
                <a:solidFill>
                  <a:srgbClr val="2D6A4F"/>
                </a:solidFill>
              </a:defRPr>
            </a:pPr>
            <a:r>
              <a:t>ADAPTIVE ENGINE</a:t>
            </a:r>
          </a:p>
          <a:p>
            <a:pPr>
              <a:defRPr sz="900">
                <a:solidFill>
                  <a:srgbClr val="4E4741"/>
                </a:solidFill>
              </a:defRPr>
            </a:pPr>
            <a:r>
              <a:t>Real-time pacing • Dynamic difficulty • Audio hints</a:t>
            </a:r>
          </a:p>
        </p:txBody>
      </p:sp>
      <p:sp>
        <p:nvSpPr>
          <p:cNvPr id="14" name="TextBox 13"/>
          <p:cNvSpPr txBox="1"/>
          <p:nvPr/>
        </p:nvSpPr>
        <p:spPr>
          <a:xfrm>
            <a:off x="3200400" y="3776472"/>
            <a:ext cx="548640" cy="274320"/>
          </a:xfrm>
          <a:prstGeom prst="rect">
            <a:avLst/>
          </a:prstGeom>
          <a:noFill/>
        </p:spPr>
        <p:txBody>
          <a:bodyPr wrap="square" lIns="0" rIns="0" tIns="0" bIns="0">
            <a:spAutoFit/>
          </a:bodyPr>
          <a:lstStyle/>
          <a:p>
            <a:pPr algn="ctr">
              <a:defRPr b="1" sz="1800">
                <a:solidFill>
                  <a:srgbClr val="2D6A4F"/>
                </a:solidFill>
              </a:defRPr>
            </a:pPr>
            <a:r>
              <a:t>↓</a:t>
            </a:r>
          </a:p>
        </p:txBody>
      </p:sp>
      <p:sp>
        <p:nvSpPr>
          <p:cNvPr id="15" name="Rounded Rectangle 14"/>
          <p:cNvSpPr/>
          <p:nvPr/>
        </p:nvSpPr>
        <p:spPr>
          <a:xfrm>
            <a:off x="1005840" y="4023360"/>
            <a:ext cx="4937760" cy="731520"/>
          </a:xfrm>
          <a:prstGeom prst="roundRect">
            <a:avLst/>
          </a:prstGeom>
          <a:solidFill>
            <a:srgbClr val="FFFFFF"/>
          </a:solidFill>
          <a:ln w="15240">
            <a:solidFill>
              <a:srgbClr val="1B43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143000" y="4114800"/>
            <a:ext cx="4663440" cy="548640"/>
          </a:xfrm>
          <a:prstGeom prst="rect">
            <a:avLst/>
          </a:prstGeom>
          <a:noFill/>
        </p:spPr>
        <p:txBody>
          <a:bodyPr wrap="none">
            <a:spAutoFit/>
          </a:bodyPr>
          <a:lstStyle/>
          <a:p>
            <a:pPr>
              <a:defRPr b="1" sz="1050">
                <a:solidFill>
                  <a:srgbClr val="1B4332"/>
                </a:solidFill>
              </a:defRPr>
            </a:pPr>
            <a:r>
              <a:t>LONGITUDINAL ANALYSIS</a:t>
            </a:r>
          </a:p>
          <a:p>
            <a:pPr>
              <a:defRPr sz="900">
                <a:solidFill>
                  <a:srgbClr val="4E4741"/>
                </a:solidFill>
              </a:defRPr>
            </a:pPr>
            <a:r>
              <a:t>Multi-session reaction latency drift &amp; recovery trends</a:t>
            </a:r>
          </a:p>
        </p:txBody>
      </p:sp>
      <p:sp>
        <p:nvSpPr>
          <p:cNvPr id="17" name="TextBox 16"/>
          <p:cNvSpPr txBox="1"/>
          <p:nvPr/>
        </p:nvSpPr>
        <p:spPr>
          <a:xfrm>
            <a:off x="3200400" y="4736592"/>
            <a:ext cx="548640" cy="274320"/>
          </a:xfrm>
          <a:prstGeom prst="rect">
            <a:avLst/>
          </a:prstGeom>
          <a:noFill/>
        </p:spPr>
        <p:txBody>
          <a:bodyPr wrap="square" lIns="0" rIns="0" tIns="0" bIns="0">
            <a:spAutoFit/>
          </a:bodyPr>
          <a:lstStyle/>
          <a:p>
            <a:pPr algn="ctr">
              <a:defRPr b="1" sz="1800">
                <a:solidFill>
                  <a:srgbClr val="2D6A4F"/>
                </a:solidFill>
              </a:defRPr>
            </a:pPr>
            <a:r>
              <a:t>↓</a:t>
            </a:r>
          </a:p>
        </p:txBody>
      </p:sp>
      <p:sp>
        <p:nvSpPr>
          <p:cNvPr id="18" name="Rounded Rectangle 17"/>
          <p:cNvSpPr/>
          <p:nvPr/>
        </p:nvSpPr>
        <p:spPr>
          <a:xfrm>
            <a:off x="1005840" y="4983480"/>
            <a:ext cx="4937760" cy="731520"/>
          </a:xfrm>
          <a:prstGeom prst="roundRect">
            <a:avLst/>
          </a:prstGeom>
          <a:solidFill>
            <a:srgbClr val="FFFFFF"/>
          </a:solidFill>
          <a:ln w="15240">
            <a:solidFill>
              <a:srgbClr val="6B1D2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143000" y="5074920"/>
            <a:ext cx="4663440" cy="548640"/>
          </a:xfrm>
          <a:prstGeom prst="rect">
            <a:avLst/>
          </a:prstGeom>
          <a:noFill/>
        </p:spPr>
        <p:txBody>
          <a:bodyPr wrap="none">
            <a:spAutoFit/>
          </a:bodyPr>
          <a:lstStyle/>
          <a:p>
            <a:pPr>
              <a:defRPr b="1" sz="1050">
                <a:solidFill>
                  <a:srgbClr val="6B1D2F"/>
                </a:solidFill>
              </a:defRPr>
            </a:pPr>
            <a:r>
              <a:t>CAREGIVER SIGNALS</a:t>
            </a:r>
          </a:p>
          <a:p>
            <a:pPr>
              <a:defRPr sz="900">
                <a:solidFill>
                  <a:srgbClr val="4E4741"/>
                </a:solidFill>
              </a:defRPr>
            </a:pPr>
            <a:r>
              <a:t>Weekly stability trends &amp; alert notifications</a:t>
            </a:r>
          </a:p>
        </p:txBody>
      </p:sp>
      <p:sp>
        <p:nvSpPr>
          <p:cNvPr id="20" name="Rounded Rectangle 19"/>
          <p:cNvSpPr/>
          <p:nvPr/>
        </p:nvSpPr>
        <p:spPr>
          <a:xfrm>
            <a:off x="6492240" y="1645920"/>
            <a:ext cx="4967935" cy="2011680"/>
          </a:xfrm>
          <a:prstGeom prst="roundRect">
            <a:avLst/>
          </a:prstGeom>
          <a:solidFill>
            <a:srgbClr val="FFFFFF"/>
          </a:solidFill>
          <a:ln w="15240">
            <a:solidFill>
              <a:srgbClr val="2D6A4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675120" y="1810512"/>
            <a:ext cx="4602175" cy="320040"/>
          </a:xfrm>
          <a:prstGeom prst="rect">
            <a:avLst/>
          </a:prstGeom>
          <a:noFill/>
        </p:spPr>
        <p:txBody>
          <a:bodyPr wrap="square" lIns="0" rIns="0" tIns="0" bIns="0">
            <a:spAutoFit/>
          </a:bodyPr>
          <a:lstStyle/>
          <a:p>
            <a:pPr>
              <a:defRPr b="1" sz="1200">
                <a:solidFill>
                  <a:srgbClr val="1B4332"/>
                </a:solidFill>
              </a:defRPr>
            </a:pPr>
            <a:r>
              <a:t>CONVERSATIONAL COMPANION (GEMINI)</a:t>
            </a:r>
          </a:p>
        </p:txBody>
      </p:sp>
      <p:sp>
        <p:nvSpPr>
          <p:cNvPr id="22" name="TextBox 21"/>
          <p:cNvSpPr txBox="1"/>
          <p:nvPr/>
        </p:nvSpPr>
        <p:spPr>
          <a:xfrm>
            <a:off x="6675120" y="2057400"/>
            <a:ext cx="4602175" cy="1463040"/>
          </a:xfrm>
          <a:prstGeom prst="rect">
            <a:avLst/>
          </a:prstGeom>
          <a:noFill/>
        </p:spPr>
        <p:txBody>
          <a:bodyPr wrap="square">
            <a:spAutoFit/>
          </a:bodyPr>
          <a:lstStyle/>
          <a:p>
            <a:pPr>
              <a:defRPr sz="1000">
                <a:solidFill>
                  <a:srgbClr val="1C1917"/>
                </a:solidFill>
              </a:defRPr>
            </a:pPr>
            <a:r>
              <a:t>• Context-constrained conversations grounded in schedule JSON</a:t>
            </a:r>
          </a:p>
          <a:p>
            <a:pPr>
              <a:spcBef>
                <a:spcPts val="400"/>
              </a:spcBef>
              <a:defRPr sz="1000">
                <a:solidFill>
                  <a:srgbClr val="1C1917"/>
                </a:solidFill>
              </a:defRPr>
            </a:pPr>
            <a:r>
              <a:t>• Empathetic daily routine &amp; reminiscence check-ins</a:t>
            </a:r>
          </a:p>
          <a:p>
            <a:pPr>
              <a:spcBef>
                <a:spcPts val="400"/>
              </a:spcBef>
              <a:defRPr sz="1000">
                <a:solidFill>
                  <a:srgbClr val="1C1917"/>
                </a:solidFill>
              </a:defRPr>
            </a:pPr>
            <a:r>
              <a:t>• Clinical medical questions redirected to family caregiver</a:t>
            </a:r>
          </a:p>
        </p:txBody>
      </p:sp>
      <p:sp>
        <p:nvSpPr>
          <p:cNvPr id="23" name="Rounded Rectangle 22"/>
          <p:cNvSpPr/>
          <p:nvPr/>
        </p:nvSpPr>
        <p:spPr>
          <a:xfrm>
            <a:off x="6492240" y="3840480"/>
            <a:ext cx="4967935" cy="1280160"/>
          </a:xfrm>
          <a:prstGeom prst="roundRect">
            <a:avLst/>
          </a:prstGeom>
          <a:solidFill>
            <a:srgbClr val="FFFFFF"/>
          </a:solidFill>
          <a:ln w="15240">
            <a:solidFill>
              <a:srgbClr val="2D6A4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675120" y="4005072"/>
            <a:ext cx="4602175" cy="320040"/>
          </a:xfrm>
          <a:prstGeom prst="rect">
            <a:avLst/>
          </a:prstGeom>
          <a:noFill/>
        </p:spPr>
        <p:txBody>
          <a:bodyPr wrap="square" lIns="0" rIns="0" tIns="0" bIns="0">
            <a:spAutoFit/>
          </a:bodyPr>
          <a:lstStyle/>
          <a:p>
            <a:pPr>
              <a:defRPr b="1" sz="1200">
                <a:solidFill>
                  <a:srgbClr val="1B4332"/>
                </a:solidFill>
              </a:defRPr>
            </a:pPr>
            <a:r>
              <a:t>MULTIMODAL VOICE LAYER</a:t>
            </a:r>
          </a:p>
        </p:txBody>
      </p:sp>
      <p:sp>
        <p:nvSpPr>
          <p:cNvPr id="25" name="TextBox 24"/>
          <p:cNvSpPr txBox="1"/>
          <p:nvPr/>
        </p:nvSpPr>
        <p:spPr>
          <a:xfrm>
            <a:off x="6675120" y="4206240"/>
            <a:ext cx="4602175" cy="822960"/>
          </a:xfrm>
          <a:prstGeom prst="rect">
            <a:avLst/>
          </a:prstGeom>
          <a:noFill/>
        </p:spPr>
        <p:txBody>
          <a:bodyPr wrap="square">
            <a:spAutoFit/>
          </a:bodyPr>
          <a:lstStyle/>
          <a:p>
            <a:pPr>
              <a:defRPr sz="1000">
                <a:solidFill>
                  <a:srgbClr val="1C1917"/>
                </a:solidFill>
              </a:defRPr>
            </a:pPr>
            <a:r>
              <a:t>• Web Speech API + Bhashini translation architecture</a:t>
            </a:r>
          </a:p>
          <a:p>
            <a:pPr>
              <a:defRPr sz="1000">
                <a:solidFill>
                  <a:srgbClr val="1C1917"/>
                </a:solidFill>
              </a:defRPr>
            </a:pPr>
            <a:r>
              <a:t>• English and Hindi voice synthesis with auto-accent adaptation</a:t>
            </a:r>
          </a:p>
        </p:txBody>
      </p:sp>
      <p:sp>
        <p:nvSpPr>
          <p:cNvPr id="26" name="Rounded Rectangle 25"/>
          <p:cNvSpPr/>
          <p:nvPr/>
        </p:nvSpPr>
        <p:spPr>
          <a:xfrm>
            <a:off x="6492240" y="5303520"/>
            <a:ext cx="4967935" cy="1005840"/>
          </a:xfrm>
          <a:prstGeom prst="roundRect">
            <a:avLst/>
          </a:prstGeom>
          <a:solidFill>
            <a:srgbClr val="EBF5EE"/>
          </a:solidFill>
          <a:ln w="12700">
            <a:solidFill>
              <a:srgbClr val="2D6A4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000">
                <a:solidFill>
                  <a:srgbClr val="1B4332"/>
                </a:solidFill>
              </a:defRPr>
            </a:pPr>
            <a:r>
              <a:t>🛡️ DEFENSIBLE ENGINEERING BOUNDARIES:</a:t>
            </a:r>
          </a:p>
          <a:p>
            <a:pPr>
              <a:defRPr sz="950">
                <a:solidFill>
                  <a:srgbClr val="4E4741"/>
                </a:solidFill>
              </a:defRPr>
            </a:pPr>
            <a:r>
              <a:t>• Local fallback when cloud services are unavailable (6s timeout)</a:t>
            </a:r>
            <a:br/>
            <a:r>
              <a:t>• Explicitly an engagement &amp; monitoring tool, not a diagnostic system</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3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320040"/>
          </a:xfrm>
          <a:prstGeom prst="rect">
            <a:avLst/>
          </a:prstGeom>
          <a:noFill/>
        </p:spPr>
        <p:txBody>
          <a:bodyPr wrap="square" lIns="0" rIns="0" tIns="0" bIns="0">
            <a:spAutoFit/>
          </a:bodyPr>
          <a:lstStyle/>
          <a:p>
            <a:pPr>
              <a:defRPr b="1" sz="1000">
                <a:solidFill>
                  <a:srgbClr val="2D6A4F"/>
                </a:solidFill>
              </a:defRPr>
            </a:pPr>
            <a:r>
              <a:t>MANOMITRA</a:t>
            </a:r>
          </a:p>
        </p:txBody>
      </p:sp>
      <p:sp>
        <p:nvSpPr>
          <p:cNvPr id="4" name="TextBox 3"/>
          <p:cNvSpPr txBox="1"/>
          <p:nvPr/>
        </p:nvSpPr>
        <p:spPr>
          <a:xfrm>
            <a:off x="9601200" y="365760"/>
            <a:ext cx="1858975" cy="320040"/>
          </a:xfrm>
          <a:prstGeom prst="rect">
            <a:avLst/>
          </a:prstGeom>
          <a:noFill/>
        </p:spPr>
        <p:txBody>
          <a:bodyPr wrap="square" lIns="0" rIns="0" tIns="0" bIns="0">
            <a:spAutoFit/>
          </a:bodyPr>
          <a:lstStyle/>
          <a:p>
            <a:pPr algn="r">
              <a:defRPr b="1" sz="1100">
                <a:solidFill>
                  <a:srgbClr val="78716C"/>
                </a:solidFill>
              </a:defRPr>
            </a:pPr>
            <a:r>
              <a:t>08 / 10</a:t>
            </a:r>
          </a:p>
        </p:txBody>
      </p:sp>
      <p:sp>
        <p:nvSpPr>
          <p:cNvPr id="5" name="TextBox 4"/>
          <p:cNvSpPr txBox="1"/>
          <p:nvPr/>
        </p:nvSpPr>
        <p:spPr>
          <a:xfrm>
            <a:off x="731520" y="658368"/>
            <a:ext cx="10728655" cy="594360"/>
          </a:xfrm>
          <a:prstGeom prst="rect">
            <a:avLst/>
          </a:prstGeom>
          <a:noFill/>
        </p:spPr>
        <p:txBody>
          <a:bodyPr wrap="square" lIns="0" rIns="0" tIns="0" bIns="0">
            <a:spAutoFit/>
          </a:bodyPr>
          <a:lstStyle/>
          <a:p>
            <a:pPr>
              <a:defRPr b="1" sz="2200">
                <a:solidFill>
                  <a:srgbClr val="1B4332"/>
                </a:solidFill>
              </a:defRPr>
            </a:pPr>
            <a:r>
              <a:t>SYSTEM ARCHITECTURE</a:t>
            </a:r>
          </a:p>
        </p:txBody>
      </p:sp>
      <p:sp>
        <p:nvSpPr>
          <p:cNvPr id="6" name="TextBox 5"/>
          <p:cNvSpPr txBox="1"/>
          <p:nvPr/>
        </p:nvSpPr>
        <p:spPr>
          <a:xfrm>
            <a:off x="731520" y="1234440"/>
            <a:ext cx="10728655" cy="365760"/>
          </a:xfrm>
          <a:prstGeom prst="rect">
            <a:avLst/>
          </a:prstGeom>
          <a:noFill/>
        </p:spPr>
        <p:txBody>
          <a:bodyPr wrap="square" lIns="0" rIns="0" tIns="0" bIns="0">
            <a:spAutoFit/>
          </a:bodyPr>
          <a:lstStyle/>
          <a:p>
            <a:pPr>
              <a:defRPr sz="1200">
                <a:solidFill>
                  <a:srgbClr val="4E4741"/>
                </a:solidFill>
              </a:defRPr>
            </a:pPr>
            <a:r>
              <a:t>A modular, edge-first architecture ensuring uninterrupted access.</a:t>
            </a:r>
          </a:p>
        </p:txBody>
      </p:sp>
      <p:sp>
        <p:nvSpPr>
          <p:cNvPr id="7" name="Rounded Rectangle 6"/>
          <p:cNvSpPr/>
          <p:nvPr/>
        </p:nvSpPr>
        <p:spPr>
          <a:xfrm>
            <a:off x="1371600" y="1554480"/>
            <a:ext cx="5486400" cy="777240"/>
          </a:xfrm>
          <a:prstGeom prst="roundRect">
            <a:avLst/>
          </a:prstGeom>
          <a:solidFill>
            <a:srgbClr val="EBF5EE"/>
          </a:solidFill>
          <a:ln w="15240">
            <a:solidFill>
              <a:srgbClr val="1B43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554480" y="1664208"/>
            <a:ext cx="5120640" cy="557784"/>
          </a:xfrm>
          <a:prstGeom prst="rect">
            <a:avLst/>
          </a:prstGeom>
          <a:noFill/>
        </p:spPr>
        <p:txBody>
          <a:bodyPr wrap="none">
            <a:spAutoFit/>
          </a:bodyPr>
          <a:lstStyle/>
          <a:p>
            <a:pPr>
              <a:defRPr b="1" sz="1050">
                <a:solidFill>
                  <a:srgbClr val="1B4332"/>
                </a:solidFill>
              </a:defRPr>
            </a:pPr>
            <a:r>
              <a:t>SENIOR INTERACTION</a:t>
            </a:r>
          </a:p>
          <a:p>
            <a:pPr>
              <a:spcBef>
                <a:spcPts val="200"/>
              </a:spcBef>
              <a:defRPr sz="900">
                <a:solidFill>
                  <a:srgbClr val="4E4741"/>
                </a:solidFill>
              </a:defRPr>
            </a:pPr>
            <a:r>
              <a:t>Voice prompts • Giant 56px+ touch zones • Zero typing barrier</a:t>
            </a:r>
          </a:p>
        </p:txBody>
      </p:sp>
      <p:sp>
        <p:nvSpPr>
          <p:cNvPr id="9" name="TextBox 8"/>
          <p:cNvSpPr txBox="1"/>
          <p:nvPr/>
        </p:nvSpPr>
        <p:spPr>
          <a:xfrm>
            <a:off x="3840480" y="2286000"/>
            <a:ext cx="548640" cy="274320"/>
          </a:xfrm>
          <a:prstGeom prst="rect">
            <a:avLst/>
          </a:prstGeom>
          <a:noFill/>
        </p:spPr>
        <p:txBody>
          <a:bodyPr wrap="square" lIns="0" rIns="0" tIns="0" bIns="0">
            <a:spAutoFit/>
          </a:bodyPr>
          <a:lstStyle/>
          <a:p>
            <a:pPr algn="ctr">
              <a:defRPr b="1" sz="1800">
                <a:solidFill>
                  <a:srgbClr val="2D6A4F"/>
                </a:solidFill>
              </a:defRPr>
            </a:pPr>
            <a:r>
              <a:t>↓</a:t>
            </a:r>
          </a:p>
        </p:txBody>
      </p:sp>
      <p:sp>
        <p:nvSpPr>
          <p:cNvPr id="10" name="Rounded Rectangle 9"/>
          <p:cNvSpPr/>
          <p:nvPr/>
        </p:nvSpPr>
        <p:spPr>
          <a:xfrm>
            <a:off x="1371600" y="2514600"/>
            <a:ext cx="5486400" cy="777240"/>
          </a:xfrm>
          <a:prstGeom prst="roundRect">
            <a:avLst/>
          </a:prstGeom>
          <a:solidFill>
            <a:srgbClr val="FFFFFF"/>
          </a:solidFill>
          <a:ln w="15240">
            <a:solidFill>
              <a:srgbClr val="1B43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554480" y="2624328"/>
            <a:ext cx="5120640" cy="557784"/>
          </a:xfrm>
          <a:prstGeom prst="rect">
            <a:avLst/>
          </a:prstGeom>
          <a:noFill/>
        </p:spPr>
        <p:txBody>
          <a:bodyPr wrap="none">
            <a:spAutoFit/>
          </a:bodyPr>
          <a:lstStyle/>
          <a:p>
            <a:pPr>
              <a:defRPr b="1" sz="1050">
                <a:solidFill>
                  <a:srgbClr val="1B4332"/>
                </a:solidFill>
              </a:defRPr>
            </a:pPr>
            <a:r>
              <a:t>PATIENT PWA</a:t>
            </a:r>
          </a:p>
          <a:p>
            <a:pPr>
              <a:spcBef>
                <a:spcPts val="200"/>
              </a:spcBef>
              <a:defRPr sz="900">
                <a:solidFill>
                  <a:srgbClr val="4E4741"/>
                </a:solidFill>
              </a:defRPr>
            </a:pPr>
            <a:r>
              <a:t>React 19 • Vite • Web Speech API • WebAuthn biometric login</a:t>
            </a:r>
          </a:p>
        </p:txBody>
      </p:sp>
      <p:sp>
        <p:nvSpPr>
          <p:cNvPr id="12" name="TextBox 11"/>
          <p:cNvSpPr txBox="1"/>
          <p:nvPr/>
        </p:nvSpPr>
        <p:spPr>
          <a:xfrm>
            <a:off x="3840480" y="3246120"/>
            <a:ext cx="548640" cy="274320"/>
          </a:xfrm>
          <a:prstGeom prst="rect">
            <a:avLst/>
          </a:prstGeom>
          <a:noFill/>
        </p:spPr>
        <p:txBody>
          <a:bodyPr wrap="square" lIns="0" rIns="0" tIns="0" bIns="0">
            <a:spAutoFit/>
          </a:bodyPr>
          <a:lstStyle/>
          <a:p>
            <a:pPr algn="ctr">
              <a:defRPr b="1" sz="1800">
                <a:solidFill>
                  <a:srgbClr val="2D6A4F"/>
                </a:solidFill>
              </a:defRPr>
            </a:pPr>
            <a:r>
              <a:t>↓</a:t>
            </a:r>
          </a:p>
        </p:txBody>
      </p:sp>
      <p:sp>
        <p:nvSpPr>
          <p:cNvPr id="13" name="Rounded Rectangle 12"/>
          <p:cNvSpPr/>
          <p:nvPr/>
        </p:nvSpPr>
        <p:spPr>
          <a:xfrm>
            <a:off x="1371600" y="3474720"/>
            <a:ext cx="5486400" cy="777240"/>
          </a:xfrm>
          <a:prstGeom prst="roundRect">
            <a:avLst/>
          </a:prstGeom>
          <a:solidFill>
            <a:srgbClr val="EBF5EE"/>
          </a:solidFill>
          <a:ln w="15240">
            <a:solidFill>
              <a:srgbClr val="1B43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554480" y="3584448"/>
            <a:ext cx="5120640" cy="557784"/>
          </a:xfrm>
          <a:prstGeom prst="rect">
            <a:avLst/>
          </a:prstGeom>
          <a:noFill/>
        </p:spPr>
        <p:txBody>
          <a:bodyPr wrap="none">
            <a:spAutoFit/>
          </a:bodyPr>
          <a:lstStyle/>
          <a:p>
            <a:pPr>
              <a:defRPr b="1" sz="1050">
                <a:solidFill>
                  <a:srgbClr val="1B4332"/>
                </a:solidFill>
              </a:defRPr>
            </a:pPr>
            <a:r>
              <a:t>LOCAL-FIRST STORAGE (EDGE)</a:t>
            </a:r>
          </a:p>
          <a:p>
            <a:pPr>
              <a:spcBef>
                <a:spcPts val="200"/>
              </a:spcBef>
              <a:defRPr sz="900">
                <a:solidFill>
                  <a:srgbClr val="4E4741"/>
                </a:solidFill>
              </a:defRPr>
            </a:pPr>
            <a:r>
              <a:t>IndexedDB Cache &amp; Sync Queue • 100% Offline-capable</a:t>
            </a:r>
          </a:p>
        </p:txBody>
      </p:sp>
      <p:sp>
        <p:nvSpPr>
          <p:cNvPr id="15" name="TextBox 14"/>
          <p:cNvSpPr txBox="1"/>
          <p:nvPr/>
        </p:nvSpPr>
        <p:spPr>
          <a:xfrm>
            <a:off x="3840480" y="4206240"/>
            <a:ext cx="548640" cy="274320"/>
          </a:xfrm>
          <a:prstGeom prst="rect">
            <a:avLst/>
          </a:prstGeom>
          <a:noFill/>
        </p:spPr>
        <p:txBody>
          <a:bodyPr wrap="square" lIns="0" rIns="0" tIns="0" bIns="0">
            <a:spAutoFit/>
          </a:bodyPr>
          <a:lstStyle/>
          <a:p>
            <a:pPr algn="ctr">
              <a:defRPr b="1" sz="1800">
                <a:solidFill>
                  <a:srgbClr val="2D6A4F"/>
                </a:solidFill>
              </a:defRPr>
            </a:pPr>
            <a:r>
              <a:t>↓</a:t>
            </a:r>
          </a:p>
        </p:txBody>
      </p:sp>
      <p:sp>
        <p:nvSpPr>
          <p:cNvPr id="16" name="Rounded Rectangle 15"/>
          <p:cNvSpPr/>
          <p:nvPr/>
        </p:nvSpPr>
        <p:spPr>
          <a:xfrm>
            <a:off x="1371600" y="4434840"/>
            <a:ext cx="5486400" cy="777240"/>
          </a:xfrm>
          <a:prstGeom prst="roundRect">
            <a:avLst/>
          </a:prstGeom>
          <a:solidFill>
            <a:srgbClr val="FFFFFF"/>
          </a:solidFill>
          <a:ln w="15240">
            <a:solidFill>
              <a:srgbClr val="2D6A4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554480" y="4544568"/>
            <a:ext cx="5120640" cy="557784"/>
          </a:xfrm>
          <a:prstGeom prst="rect">
            <a:avLst/>
          </a:prstGeom>
          <a:noFill/>
        </p:spPr>
        <p:txBody>
          <a:bodyPr wrap="none">
            <a:spAutoFit/>
          </a:bodyPr>
          <a:lstStyle/>
          <a:p>
            <a:pPr>
              <a:defRPr b="1" sz="1050">
                <a:solidFill>
                  <a:srgbClr val="2D6A4F"/>
                </a:solidFill>
              </a:defRPr>
            </a:pPr>
            <a:r>
              <a:t>API / GATEWAY</a:t>
            </a:r>
          </a:p>
          <a:p>
            <a:pPr>
              <a:spcBef>
                <a:spcPts val="200"/>
              </a:spcBef>
              <a:defRPr sz="900">
                <a:solidFill>
                  <a:srgbClr val="4E4741"/>
                </a:solidFill>
              </a:defRPr>
            </a:pPr>
            <a:r>
              <a:t>Node.js • Role-scoped JWT sessions • DPDP-aligned data architecture</a:t>
            </a:r>
          </a:p>
        </p:txBody>
      </p:sp>
      <p:sp>
        <p:nvSpPr>
          <p:cNvPr id="18" name="Rounded Rectangle 17"/>
          <p:cNvSpPr/>
          <p:nvPr/>
        </p:nvSpPr>
        <p:spPr>
          <a:xfrm>
            <a:off x="6949440" y="3566160"/>
            <a:ext cx="4114800" cy="594360"/>
          </a:xfrm>
          <a:prstGeom prst="roundRect">
            <a:avLst/>
          </a:prstGeom>
          <a:solidFill>
            <a:srgbClr val="1B4332"/>
          </a:solidFill>
          <a:ln>
            <a:solidFill>
              <a:srgbClr val="1B433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000">
                <a:solidFill>
                  <a:srgbClr val="FFFFFF"/>
                </a:solidFill>
              </a:defRPr>
            </a:pPr>
            <a:r>
              <a:t>⚡ OFFLINE-FIRST PATH: Operates with zero internet</a:t>
            </a:r>
          </a:p>
        </p:txBody>
      </p:sp>
      <p:sp>
        <p:nvSpPr>
          <p:cNvPr id="19" name="TextBox 18"/>
          <p:cNvSpPr txBox="1"/>
          <p:nvPr/>
        </p:nvSpPr>
        <p:spPr>
          <a:xfrm>
            <a:off x="2743200" y="5212080"/>
            <a:ext cx="548640" cy="274320"/>
          </a:xfrm>
          <a:prstGeom prst="rect">
            <a:avLst/>
          </a:prstGeom>
          <a:noFill/>
        </p:spPr>
        <p:txBody>
          <a:bodyPr wrap="square" lIns="0" rIns="0" tIns="0" bIns="0">
            <a:spAutoFit/>
          </a:bodyPr>
          <a:lstStyle/>
          <a:p>
            <a:pPr algn="ctr">
              <a:defRPr b="1" sz="1800">
                <a:solidFill>
                  <a:srgbClr val="2D6A4F"/>
                </a:solidFill>
              </a:defRPr>
            </a:pPr>
            <a:r>
              <a:t>↓</a:t>
            </a:r>
          </a:p>
        </p:txBody>
      </p:sp>
      <p:sp>
        <p:nvSpPr>
          <p:cNvPr id="20" name="TextBox 19"/>
          <p:cNvSpPr txBox="1"/>
          <p:nvPr/>
        </p:nvSpPr>
        <p:spPr>
          <a:xfrm>
            <a:off x="5486400" y="5212080"/>
            <a:ext cx="548640" cy="274320"/>
          </a:xfrm>
          <a:prstGeom prst="rect">
            <a:avLst/>
          </a:prstGeom>
          <a:noFill/>
        </p:spPr>
        <p:txBody>
          <a:bodyPr wrap="square" lIns="0" rIns="0" tIns="0" bIns="0">
            <a:spAutoFit/>
          </a:bodyPr>
          <a:lstStyle/>
          <a:p>
            <a:pPr algn="ctr">
              <a:defRPr b="1" sz="1800">
                <a:solidFill>
                  <a:srgbClr val="2D6A4F"/>
                </a:solidFill>
              </a:defRPr>
            </a:pPr>
            <a:r>
              <a:t>↓</a:t>
            </a:r>
          </a:p>
        </p:txBody>
      </p:sp>
      <p:sp>
        <p:nvSpPr>
          <p:cNvPr id="21" name="Rounded Rectangle 20"/>
          <p:cNvSpPr/>
          <p:nvPr/>
        </p:nvSpPr>
        <p:spPr>
          <a:xfrm>
            <a:off x="1371600" y="5486400"/>
            <a:ext cx="2651760" cy="914400"/>
          </a:xfrm>
          <a:prstGeom prst="roundRect">
            <a:avLst/>
          </a:prstGeom>
          <a:solidFill>
            <a:srgbClr val="FFFFFF"/>
          </a:solidFill>
          <a:ln w="15240">
            <a:solidFill>
              <a:srgbClr val="2D6A4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463040" y="5559552"/>
            <a:ext cx="2468880" cy="777240"/>
          </a:xfrm>
          <a:prstGeom prst="rect">
            <a:avLst/>
          </a:prstGeom>
          <a:noFill/>
        </p:spPr>
        <p:txBody>
          <a:bodyPr wrap="none">
            <a:spAutoFit/>
          </a:bodyPr>
          <a:lstStyle/>
          <a:p>
            <a:pPr>
              <a:defRPr b="1" sz="1000">
                <a:solidFill>
                  <a:srgbClr val="2D6A4F"/>
                </a:solidFill>
              </a:defRPr>
            </a:pPr>
            <a:r>
              <a:t>AI / ML (FastAPI)</a:t>
            </a:r>
          </a:p>
          <a:p>
            <a:pPr>
              <a:defRPr sz="900">
                <a:solidFill>
                  <a:srgbClr val="4E4741"/>
                </a:solidFill>
              </a:defRPr>
            </a:pPr>
            <a:r>
              <a:t>Adaptive difficulty scoring</a:t>
            </a:r>
          </a:p>
        </p:txBody>
      </p:sp>
      <p:sp>
        <p:nvSpPr>
          <p:cNvPr id="23" name="Rounded Rectangle 22"/>
          <p:cNvSpPr/>
          <p:nvPr/>
        </p:nvSpPr>
        <p:spPr>
          <a:xfrm>
            <a:off x="4206240" y="5486400"/>
            <a:ext cx="2651760" cy="914400"/>
          </a:xfrm>
          <a:prstGeom prst="roundRect">
            <a:avLst/>
          </a:prstGeom>
          <a:solidFill>
            <a:srgbClr val="FFFFFF"/>
          </a:solidFill>
          <a:ln w="15240">
            <a:solidFill>
              <a:srgbClr val="2D6A4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297680" y="5559552"/>
            <a:ext cx="2468880" cy="777240"/>
          </a:xfrm>
          <a:prstGeom prst="rect">
            <a:avLst/>
          </a:prstGeom>
          <a:noFill/>
        </p:spPr>
        <p:txBody>
          <a:bodyPr wrap="none">
            <a:spAutoFit/>
          </a:bodyPr>
          <a:lstStyle/>
          <a:p>
            <a:pPr>
              <a:defRPr b="1" sz="1000">
                <a:solidFill>
                  <a:srgbClr val="2D6A4F"/>
                </a:solidFill>
              </a:defRPr>
            </a:pPr>
            <a:r>
              <a:t>DATABASE (MongoDB)</a:t>
            </a:r>
          </a:p>
          <a:p>
            <a:pPr>
              <a:defRPr sz="900">
                <a:solidFill>
                  <a:srgbClr val="4E4741"/>
                </a:solidFill>
              </a:defRPr>
            </a:pPr>
            <a:r>
              <a:t>AES-256 encrypted at rest</a:t>
            </a:r>
          </a:p>
        </p:txBody>
      </p:sp>
      <p:sp>
        <p:nvSpPr>
          <p:cNvPr id="25" name="Rounded Rectangle 24"/>
          <p:cNvSpPr/>
          <p:nvPr/>
        </p:nvSpPr>
        <p:spPr>
          <a:xfrm>
            <a:off x="7315200" y="4434840"/>
            <a:ext cx="3749039" cy="1965960"/>
          </a:xfrm>
          <a:prstGeom prst="roundRect">
            <a:avLst/>
          </a:prstGeom>
          <a:solidFill>
            <a:srgbClr val="FDF2F4"/>
          </a:solidFill>
          <a:ln w="15240">
            <a:solidFill>
              <a:srgbClr val="6B1D2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0" y="4599432"/>
            <a:ext cx="3383279" cy="320040"/>
          </a:xfrm>
          <a:prstGeom prst="rect">
            <a:avLst/>
          </a:prstGeom>
          <a:noFill/>
        </p:spPr>
        <p:txBody>
          <a:bodyPr wrap="square" lIns="0" rIns="0" tIns="0" bIns="0">
            <a:spAutoFit/>
          </a:bodyPr>
          <a:lstStyle/>
          <a:p>
            <a:pPr>
              <a:defRPr b="1" sz="1200">
                <a:solidFill>
                  <a:srgbClr val="6B1D2F"/>
                </a:solidFill>
              </a:defRPr>
            </a:pPr>
            <a:r>
              <a:t>CAREGIVER DELIVERY LAYER</a:t>
            </a:r>
          </a:p>
        </p:txBody>
      </p:sp>
      <p:sp>
        <p:nvSpPr>
          <p:cNvPr id="27" name="TextBox 26"/>
          <p:cNvSpPr txBox="1"/>
          <p:nvPr/>
        </p:nvSpPr>
        <p:spPr>
          <a:xfrm>
            <a:off x="7498079" y="4892040"/>
            <a:ext cx="3383280" cy="1371600"/>
          </a:xfrm>
          <a:prstGeom prst="rect">
            <a:avLst/>
          </a:prstGeom>
          <a:noFill/>
        </p:spPr>
        <p:txBody>
          <a:bodyPr wrap="none">
            <a:spAutoFit/>
          </a:bodyPr>
          <a:lstStyle/>
          <a:p>
            <a:pPr>
              <a:defRPr b="1" sz="1050">
                <a:solidFill>
                  <a:srgbClr val="1C1917"/>
                </a:solidFill>
              </a:defRPr>
            </a:pPr>
            <a:r>
              <a:t>• Caregiver Web Dashboard</a:t>
            </a:r>
          </a:p>
          <a:p>
            <a:pPr>
              <a:defRPr sz="900">
                <a:solidFill>
                  <a:srgbClr val="4E4741"/>
                </a:solidFill>
              </a:defRPr>
            </a:pPr>
            <a:r>
              <a:t>7-day adherence &amp; cognitive stability curves</a:t>
            </a:r>
          </a:p>
          <a:p>
            <a:pPr>
              <a:spcBef>
                <a:spcPts val="600"/>
              </a:spcBef>
              <a:defRPr b="1" sz="1050">
                <a:solidFill>
                  <a:srgbClr val="1C1917"/>
                </a:solidFill>
              </a:defRPr>
            </a:pPr>
            <a:r>
              <a:t>• WhatsApp Cloud API Gateway</a:t>
            </a:r>
          </a:p>
          <a:p>
            <a:pPr>
              <a:defRPr sz="900">
                <a:solidFill>
                  <a:srgbClr val="4E4741"/>
                </a:solidFill>
              </a:defRPr>
            </a:pPr>
            <a:r>
              <a:t>Zero-install daily nudges &amp; emergency red-flags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3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320040"/>
          </a:xfrm>
          <a:prstGeom prst="rect">
            <a:avLst/>
          </a:prstGeom>
          <a:noFill/>
        </p:spPr>
        <p:txBody>
          <a:bodyPr wrap="square" lIns="0" rIns="0" tIns="0" bIns="0">
            <a:spAutoFit/>
          </a:bodyPr>
          <a:lstStyle/>
          <a:p>
            <a:pPr>
              <a:defRPr b="1" sz="1000">
                <a:solidFill>
                  <a:srgbClr val="2D6A4F"/>
                </a:solidFill>
              </a:defRPr>
            </a:pPr>
            <a:r>
              <a:t>MANOMITRA</a:t>
            </a:r>
          </a:p>
        </p:txBody>
      </p:sp>
      <p:sp>
        <p:nvSpPr>
          <p:cNvPr id="4" name="TextBox 3"/>
          <p:cNvSpPr txBox="1"/>
          <p:nvPr/>
        </p:nvSpPr>
        <p:spPr>
          <a:xfrm>
            <a:off x="9601200" y="365760"/>
            <a:ext cx="1858975" cy="320040"/>
          </a:xfrm>
          <a:prstGeom prst="rect">
            <a:avLst/>
          </a:prstGeom>
          <a:noFill/>
        </p:spPr>
        <p:txBody>
          <a:bodyPr wrap="square" lIns="0" rIns="0" tIns="0" bIns="0">
            <a:spAutoFit/>
          </a:bodyPr>
          <a:lstStyle/>
          <a:p>
            <a:pPr algn="r">
              <a:defRPr b="1" sz="1100">
                <a:solidFill>
                  <a:srgbClr val="78716C"/>
                </a:solidFill>
              </a:defRPr>
            </a:pPr>
            <a:r>
              <a:t>09 / 10</a:t>
            </a:r>
          </a:p>
        </p:txBody>
      </p:sp>
      <p:sp>
        <p:nvSpPr>
          <p:cNvPr id="5" name="TextBox 4"/>
          <p:cNvSpPr txBox="1"/>
          <p:nvPr/>
        </p:nvSpPr>
        <p:spPr>
          <a:xfrm>
            <a:off x="731520" y="658368"/>
            <a:ext cx="10728655" cy="594360"/>
          </a:xfrm>
          <a:prstGeom prst="rect">
            <a:avLst/>
          </a:prstGeom>
          <a:noFill/>
        </p:spPr>
        <p:txBody>
          <a:bodyPr wrap="square" lIns="0" rIns="0" tIns="0" bIns="0">
            <a:spAutoFit/>
          </a:bodyPr>
          <a:lstStyle/>
          <a:p>
            <a:pPr>
              <a:defRPr b="1" sz="2200">
                <a:solidFill>
                  <a:srgbClr val="1B4332"/>
                </a:solidFill>
              </a:defRPr>
            </a:pPr>
            <a:r>
              <a:t>BUILT FOR INDIA'S REALITY</a:t>
            </a:r>
          </a:p>
        </p:txBody>
      </p:sp>
      <p:sp>
        <p:nvSpPr>
          <p:cNvPr id="6" name="TextBox 5"/>
          <p:cNvSpPr txBox="1"/>
          <p:nvPr/>
        </p:nvSpPr>
        <p:spPr>
          <a:xfrm>
            <a:off x="731520" y="1234440"/>
            <a:ext cx="10728655" cy="365760"/>
          </a:xfrm>
          <a:prstGeom prst="rect">
            <a:avLst/>
          </a:prstGeom>
          <a:noFill/>
        </p:spPr>
        <p:txBody>
          <a:bodyPr wrap="square" lIns="0" rIns="0" tIns="0" bIns="0">
            <a:spAutoFit/>
          </a:bodyPr>
          <a:lstStyle/>
          <a:p>
            <a:pPr>
              <a:defRPr sz="1200">
                <a:solidFill>
                  <a:srgbClr val="4E4741"/>
                </a:solidFill>
              </a:defRPr>
            </a:pPr>
            <a:r>
              <a:t>Designed for challenging rural, multilingual, and low-connectivity environments.</a:t>
            </a:r>
          </a:p>
        </p:txBody>
      </p:sp>
      <p:sp>
        <p:nvSpPr>
          <p:cNvPr id="7" name="Rounded Rectangle 6"/>
          <p:cNvSpPr/>
          <p:nvPr/>
        </p:nvSpPr>
        <p:spPr>
          <a:xfrm>
            <a:off x="731520" y="1645920"/>
            <a:ext cx="2029968" cy="3840480"/>
          </a:xfrm>
          <a:prstGeom prst="roundRect">
            <a:avLst/>
          </a:prstGeom>
          <a:solidFill>
            <a:srgbClr val="FFFFFF"/>
          </a:solidFill>
          <a:ln w="15240">
            <a:solidFill>
              <a:srgbClr val="1B43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1828800"/>
            <a:ext cx="1755648" cy="3474720"/>
          </a:xfrm>
          <a:prstGeom prst="rect">
            <a:avLst/>
          </a:prstGeom>
          <a:noFill/>
        </p:spPr>
        <p:txBody>
          <a:bodyPr wrap="square">
            <a:spAutoFit/>
          </a:bodyPr>
          <a:lstStyle/>
          <a:p>
            <a:pPr algn="ctr">
              <a:defRPr sz="3600"/>
            </a:pPr>
            <a:r>
              <a:t>🗣️</a:t>
            </a:r>
          </a:p>
          <a:p>
            <a:pPr algn="ctr">
              <a:spcBef>
                <a:spcPts val="800"/>
              </a:spcBef>
              <a:defRPr b="1" sz="1300">
                <a:solidFill>
                  <a:srgbClr val="1B4332"/>
                </a:solidFill>
              </a:defRPr>
            </a:pPr>
            <a:r>
              <a:t>LANGUAGE</a:t>
            </a:r>
          </a:p>
          <a:p>
            <a:pPr algn="ctr">
              <a:spcBef>
                <a:spcPts val="400"/>
              </a:spcBef>
              <a:defRPr b="1" sz="1100">
                <a:solidFill>
                  <a:srgbClr val="1C1917"/>
                </a:solidFill>
              </a:defRPr>
            </a:pPr>
            <a:r>
              <a:t>Vernacular-first</a:t>
            </a:r>
          </a:p>
          <a:p>
            <a:pPr>
              <a:spcBef>
                <a:spcPts val="1000"/>
              </a:spcBef>
              <a:defRPr sz="950">
                <a:solidFill>
                  <a:srgbClr val="4E4741"/>
                </a:solidFill>
              </a:defRPr>
            </a:pPr>
            <a:r>
              <a:t>Speech synthesis and UI text supporting diverse Indian languages.</a:t>
            </a:r>
          </a:p>
        </p:txBody>
      </p:sp>
      <p:sp>
        <p:nvSpPr>
          <p:cNvPr id="9" name="Rounded Rectangle 8"/>
          <p:cNvSpPr/>
          <p:nvPr/>
        </p:nvSpPr>
        <p:spPr>
          <a:xfrm>
            <a:off x="2898648" y="1645920"/>
            <a:ext cx="2029968" cy="3840480"/>
          </a:xfrm>
          <a:prstGeom prst="roundRect">
            <a:avLst/>
          </a:prstGeom>
          <a:solidFill>
            <a:srgbClr val="FFFFFF"/>
          </a:solidFill>
          <a:ln w="15240">
            <a:solidFill>
              <a:srgbClr val="2D6A4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035808" y="1828800"/>
            <a:ext cx="1755648" cy="3474720"/>
          </a:xfrm>
          <a:prstGeom prst="rect">
            <a:avLst/>
          </a:prstGeom>
          <a:noFill/>
        </p:spPr>
        <p:txBody>
          <a:bodyPr wrap="square">
            <a:spAutoFit/>
          </a:bodyPr>
          <a:lstStyle/>
          <a:p>
            <a:pPr algn="ctr">
              <a:defRPr sz="3600"/>
            </a:pPr>
            <a:r>
              <a:t>👆</a:t>
            </a:r>
          </a:p>
          <a:p>
            <a:pPr algn="ctr">
              <a:spcBef>
                <a:spcPts val="800"/>
              </a:spcBef>
              <a:defRPr b="1" sz="1300">
                <a:solidFill>
                  <a:srgbClr val="2D6A4F"/>
                </a:solidFill>
              </a:defRPr>
            </a:pPr>
            <a:r>
              <a:t>ACCESSIBILITY</a:t>
            </a:r>
          </a:p>
          <a:p>
            <a:pPr algn="ctr">
              <a:spcBef>
                <a:spcPts val="400"/>
              </a:spcBef>
              <a:defRPr b="1" sz="1100">
                <a:solidFill>
                  <a:srgbClr val="1C1917"/>
                </a:solidFill>
              </a:defRPr>
            </a:pPr>
            <a:r>
              <a:t>Elder-friendly</a:t>
            </a:r>
          </a:p>
          <a:p>
            <a:pPr>
              <a:spcBef>
                <a:spcPts val="1000"/>
              </a:spcBef>
              <a:defRPr sz="950">
                <a:solidFill>
                  <a:srgbClr val="4E4741"/>
                </a:solidFill>
              </a:defRPr>
            </a:pPr>
            <a:r>
              <a:t>56px+ tactile buttons for trembling hands; high-contrast cataract palette.</a:t>
            </a:r>
          </a:p>
        </p:txBody>
      </p:sp>
      <p:sp>
        <p:nvSpPr>
          <p:cNvPr id="11" name="Rounded Rectangle 10"/>
          <p:cNvSpPr/>
          <p:nvPr/>
        </p:nvSpPr>
        <p:spPr>
          <a:xfrm>
            <a:off x="5065776" y="1645920"/>
            <a:ext cx="2029968" cy="3840480"/>
          </a:xfrm>
          <a:prstGeom prst="roundRect">
            <a:avLst/>
          </a:prstGeom>
          <a:solidFill>
            <a:srgbClr val="FFFFFF"/>
          </a:solidFill>
          <a:ln w="15240">
            <a:solidFill>
              <a:srgbClr val="1B43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202936" y="1828800"/>
            <a:ext cx="1755648" cy="3474720"/>
          </a:xfrm>
          <a:prstGeom prst="rect">
            <a:avLst/>
          </a:prstGeom>
          <a:noFill/>
        </p:spPr>
        <p:txBody>
          <a:bodyPr wrap="square">
            <a:spAutoFit/>
          </a:bodyPr>
          <a:lstStyle/>
          <a:p>
            <a:pPr algn="ctr">
              <a:defRPr sz="3600"/>
            </a:pPr>
            <a:r>
              <a:t>⚡</a:t>
            </a:r>
          </a:p>
          <a:p>
            <a:pPr algn="ctr">
              <a:spcBef>
                <a:spcPts val="800"/>
              </a:spcBef>
              <a:defRPr b="1" sz="1300">
                <a:solidFill>
                  <a:srgbClr val="1B4332"/>
                </a:solidFill>
              </a:defRPr>
            </a:pPr>
            <a:r>
              <a:t>CONNECTIVITY</a:t>
            </a:r>
          </a:p>
          <a:p>
            <a:pPr algn="ctr">
              <a:spcBef>
                <a:spcPts val="400"/>
              </a:spcBef>
              <a:defRPr b="1" sz="1100">
                <a:solidFill>
                  <a:srgbClr val="1C1917"/>
                </a:solidFill>
              </a:defRPr>
            </a:pPr>
            <a:r>
              <a:t>Offline-first</a:t>
            </a:r>
          </a:p>
          <a:p>
            <a:pPr>
              <a:spcBef>
                <a:spcPts val="1000"/>
              </a:spcBef>
              <a:defRPr sz="950">
                <a:solidFill>
                  <a:srgbClr val="4E4741"/>
                </a:solidFill>
              </a:defRPr>
            </a:pPr>
            <a:r>
              <a:t>100% functional during power cuts &amp; blackouts via local IndexedDB caching.</a:t>
            </a:r>
          </a:p>
        </p:txBody>
      </p:sp>
      <p:sp>
        <p:nvSpPr>
          <p:cNvPr id="13" name="Rounded Rectangle 12"/>
          <p:cNvSpPr/>
          <p:nvPr/>
        </p:nvSpPr>
        <p:spPr>
          <a:xfrm>
            <a:off x="7232904" y="1645920"/>
            <a:ext cx="2029968" cy="3840480"/>
          </a:xfrm>
          <a:prstGeom prst="roundRect">
            <a:avLst/>
          </a:prstGeom>
          <a:solidFill>
            <a:srgbClr val="FFFFFF"/>
          </a:solidFill>
          <a:ln w="15240">
            <a:solidFill>
              <a:srgbClr val="2D6A4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70064" y="1828800"/>
            <a:ext cx="1755648" cy="3474720"/>
          </a:xfrm>
          <a:prstGeom prst="rect">
            <a:avLst/>
          </a:prstGeom>
          <a:noFill/>
        </p:spPr>
        <p:txBody>
          <a:bodyPr wrap="square">
            <a:spAutoFit/>
          </a:bodyPr>
          <a:lstStyle/>
          <a:p>
            <a:pPr algn="ctr">
              <a:defRPr sz="3600"/>
            </a:pPr>
            <a:r>
              <a:t>🌾</a:t>
            </a:r>
          </a:p>
          <a:p>
            <a:pPr algn="ctr">
              <a:spcBef>
                <a:spcPts val="800"/>
              </a:spcBef>
              <a:defRPr b="1" sz="1300">
                <a:solidFill>
                  <a:srgbClr val="2D6A4F"/>
                </a:solidFill>
              </a:defRPr>
            </a:pPr>
            <a:r>
              <a:t>CULTURE</a:t>
            </a:r>
          </a:p>
          <a:p>
            <a:pPr algn="ctr">
              <a:spcBef>
                <a:spcPts val="400"/>
              </a:spcBef>
              <a:defRPr b="1" sz="1100">
                <a:solidFill>
                  <a:srgbClr val="1C1917"/>
                </a:solidFill>
              </a:defRPr>
            </a:pPr>
            <a:r>
              <a:t>Familiar content</a:t>
            </a:r>
          </a:p>
          <a:p>
            <a:pPr>
              <a:spcBef>
                <a:spcPts val="1000"/>
              </a:spcBef>
              <a:defRPr sz="950">
                <a:solidFill>
                  <a:srgbClr val="4E4741"/>
                </a:solidFill>
              </a:defRPr>
            </a:pPr>
            <a:r>
              <a:t>Indian bazaars, family albums, and daily routines replace abstract tests.</a:t>
            </a:r>
          </a:p>
        </p:txBody>
      </p:sp>
      <p:sp>
        <p:nvSpPr>
          <p:cNvPr id="15" name="Rounded Rectangle 14"/>
          <p:cNvSpPr/>
          <p:nvPr/>
        </p:nvSpPr>
        <p:spPr>
          <a:xfrm>
            <a:off x="9400032" y="1645920"/>
            <a:ext cx="2029968" cy="3840480"/>
          </a:xfrm>
          <a:prstGeom prst="roundRect">
            <a:avLst/>
          </a:prstGeom>
          <a:solidFill>
            <a:srgbClr val="FFFFFF"/>
          </a:solidFill>
          <a:ln w="15240">
            <a:solidFill>
              <a:srgbClr val="6B1D2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537192" y="1828800"/>
            <a:ext cx="1755648" cy="3474720"/>
          </a:xfrm>
          <a:prstGeom prst="rect">
            <a:avLst/>
          </a:prstGeom>
          <a:noFill/>
        </p:spPr>
        <p:txBody>
          <a:bodyPr wrap="square">
            <a:spAutoFit/>
          </a:bodyPr>
          <a:lstStyle/>
          <a:p>
            <a:pPr algn="ctr">
              <a:defRPr sz="3600"/>
            </a:pPr>
            <a:r>
              <a:t>👨‍👩‍👧</a:t>
            </a:r>
          </a:p>
          <a:p>
            <a:pPr algn="ctr">
              <a:spcBef>
                <a:spcPts val="800"/>
              </a:spcBef>
              <a:defRPr b="1" sz="1300">
                <a:solidFill>
                  <a:srgbClr val="6B1D2F"/>
                </a:solidFill>
              </a:defRPr>
            </a:pPr>
            <a:r>
              <a:t>CAREGIVING</a:t>
            </a:r>
          </a:p>
          <a:p>
            <a:pPr algn="ctr">
              <a:spcBef>
                <a:spcPts val="400"/>
              </a:spcBef>
              <a:defRPr b="1" sz="1100">
                <a:solidFill>
                  <a:srgbClr val="1C1917"/>
                </a:solidFill>
              </a:defRPr>
            </a:pPr>
            <a:r>
              <a:t>Closed-loop care</a:t>
            </a:r>
          </a:p>
          <a:p>
            <a:pPr>
              <a:spcBef>
                <a:spcPts val="1000"/>
              </a:spcBef>
              <a:defRPr sz="950">
                <a:solidFill>
                  <a:srgbClr val="4E4741"/>
                </a:solidFill>
              </a:defRPr>
            </a:pPr>
            <a:r>
              <a:t>Automated WhatsApp alerts give family visibility without surveillance stress.</a:t>
            </a:r>
          </a:p>
        </p:txBody>
      </p:sp>
      <p:sp>
        <p:nvSpPr>
          <p:cNvPr id="17" name="Rounded Rectangle 16"/>
          <p:cNvSpPr/>
          <p:nvPr/>
        </p:nvSpPr>
        <p:spPr>
          <a:xfrm>
            <a:off x="731520" y="5715000"/>
            <a:ext cx="10728655" cy="640080"/>
          </a:xfrm>
          <a:prstGeom prst="roundRect">
            <a:avLst/>
          </a:prstGeom>
          <a:solidFill>
            <a:srgbClr val="EBF5EE"/>
          </a:solidFill>
          <a:ln w="12700">
            <a:solidFill>
              <a:srgbClr val="2D6A4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100">
                <a:solidFill>
                  <a:srgbClr val="1B4332"/>
                </a:solidFill>
              </a:defRPr>
            </a:pPr>
            <a:r>
              <a:t>Designed for challenging rural, multilingual, and low-connectivity environments across India.</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3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320040"/>
          </a:xfrm>
          <a:prstGeom prst="rect">
            <a:avLst/>
          </a:prstGeom>
          <a:noFill/>
        </p:spPr>
        <p:txBody>
          <a:bodyPr wrap="square" lIns="0" rIns="0" tIns="0" bIns="0">
            <a:spAutoFit/>
          </a:bodyPr>
          <a:lstStyle/>
          <a:p>
            <a:pPr>
              <a:defRPr b="1" sz="1000">
                <a:solidFill>
                  <a:srgbClr val="2D6A4F"/>
                </a:solidFill>
              </a:defRPr>
            </a:pPr>
            <a:r>
              <a:t>MANOMITRA</a:t>
            </a:r>
          </a:p>
        </p:txBody>
      </p:sp>
      <p:sp>
        <p:nvSpPr>
          <p:cNvPr id="4" name="TextBox 3"/>
          <p:cNvSpPr txBox="1"/>
          <p:nvPr/>
        </p:nvSpPr>
        <p:spPr>
          <a:xfrm>
            <a:off x="9601200" y="365760"/>
            <a:ext cx="1858975" cy="320040"/>
          </a:xfrm>
          <a:prstGeom prst="rect">
            <a:avLst/>
          </a:prstGeom>
          <a:noFill/>
        </p:spPr>
        <p:txBody>
          <a:bodyPr wrap="square" lIns="0" rIns="0" tIns="0" bIns="0">
            <a:spAutoFit/>
          </a:bodyPr>
          <a:lstStyle/>
          <a:p>
            <a:pPr algn="r">
              <a:defRPr b="1" sz="1100">
                <a:solidFill>
                  <a:srgbClr val="78716C"/>
                </a:solidFill>
              </a:defRPr>
            </a:pPr>
            <a:r>
              <a:t>10 / 10</a:t>
            </a:r>
          </a:p>
        </p:txBody>
      </p:sp>
      <p:sp>
        <p:nvSpPr>
          <p:cNvPr id="5" name="TextBox 4"/>
          <p:cNvSpPr txBox="1"/>
          <p:nvPr/>
        </p:nvSpPr>
        <p:spPr>
          <a:xfrm>
            <a:off x="731520" y="658368"/>
            <a:ext cx="10728655" cy="594360"/>
          </a:xfrm>
          <a:prstGeom prst="rect">
            <a:avLst/>
          </a:prstGeom>
          <a:noFill/>
        </p:spPr>
        <p:txBody>
          <a:bodyPr wrap="square" lIns="0" rIns="0" tIns="0" bIns="0">
            <a:spAutoFit/>
          </a:bodyPr>
          <a:lstStyle/>
          <a:p>
            <a:pPr>
              <a:defRPr b="1" sz="2200">
                <a:solidFill>
                  <a:srgbClr val="1B4332"/>
                </a:solidFill>
              </a:defRPr>
            </a:pPr>
            <a:r>
              <a:t>FROM PROTOTYPE TO IMPACT</a:t>
            </a:r>
          </a:p>
        </p:txBody>
      </p:sp>
      <p:sp>
        <p:nvSpPr>
          <p:cNvPr id="6" name="TextBox 5"/>
          <p:cNvSpPr txBox="1"/>
          <p:nvPr/>
        </p:nvSpPr>
        <p:spPr>
          <a:xfrm>
            <a:off x="731520" y="1234440"/>
            <a:ext cx="10728655" cy="365760"/>
          </a:xfrm>
          <a:prstGeom prst="rect">
            <a:avLst/>
          </a:prstGeom>
          <a:noFill/>
        </p:spPr>
        <p:txBody>
          <a:bodyPr wrap="square" lIns="0" rIns="0" tIns="0" bIns="0">
            <a:spAutoFit/>
          </a:bodyPr>
          <a:lstStyle/>
          <a:p>
            <a:pPr>
              <a:defRPr sz="1200">
                <a:solidFill>
                  <a:srgbClr val="4E4741"/>
                </a:solidFill>
              </a:defRPr>
            </a:pPr>
            <a:r>
              <a:t>A structured roadmap from working prototype to community impact.</a:t>
            </a:r>
          </a:p>
        </p:txBody>
      </p:sp>
      <p:sp>
        <p:nvSpPr>
          <p:cNvPr id="7" name="Rounded Rectangle 6"/>
          <p:cNvSpPr/>
          <p:nvPr/>
        </p:nvSpPr>
        <p:spPr>
          <a:xfrm>
            <a:off x="731520" y="1645920"/>
            <a:ext cx="6858000" cy="2011680"/>
          </a:xfrm>
          <a:prstGeom prst="roundRect">
            <a:avLst/>
          </a:prstGeom>
          <a:solidFill>
            <a:srgbClr val="FFFFFF"/>
          </a:solidFill>
          <a:ln w="15240">
            <a:solidFill>
              <a:srgbClr val="1B43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810512"/>
            <a:ext cx="6492240" cy="320040"/>
          </a:xfrm>
          <a:prstGeom prst="rect">
            <a:avLst/>
          </a:prstGeom>
          <a:noFill/>
        </p:spPr>
        <p:txBody>
          <a:bodyPr wrap="square" lIns="0" rIns="0" tIns="0" bIns="0">
            <a:spAutoFit/>
          </a:bodyPr>
          <a:lstStyle/>
          <a:p>
            <a:pPr>
              <a:defRPr b="1" sz="1200">
                <a:solidFill>
                  <a:srgbClr val="1B4332"/>
                </a:solidFill>
              </a:defRPr>
            </a:pPr>
            <a:r>
              <a:t>PHASED ROADMAP</a:t>
            </a:r>
          </a:p>
        </p:txBody>
      </p:sp>
      <p:sp>
        <p:nvSpPr>
          <p:cNvPr id="9" name="Rounded Rectangle 8"/>
          <p:cNvSpPr/>
          <p:nvPr/>
        </p:nvSpPr>
        <p:spPr>
          <a:xfrm>
            <a:off x="914400" y="2103120"/>
            <a:ext cx="1463040" cy="1325880"/>
          </a:xfrm>
          <a:prstGeom prst="roundRect">
            <a:avLst/>
          </a:prstGeom>
          <a:solidFill>
            <a:srgbClr val="FFFFFF"/>
          </a:solidFill>
          <a:ln w="15240">
            <a:solidFill>
              <a:srgbClr val="1B43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2194560"/>
            <a:ext cx="1280160" cy="1143000"/>
          </a:xfrm>
          <a:prstGeom prst="rect">
            <a:avLst/>
          </a:prstGeom>
          <a:noFill/>
        </p:spPr>
        <p:txBody>
          <a:bodyPr wrap="square">
            <a:spAutoFit/>
          </a:bodyPr>
          <a:lstStyle/>
          <a:p>
            <a:pPr>
              <a:defRPr b="1" sz="1100">
                <a:solidFill>
                  <a:srgbClr val="1B4332"/>
                </a:solidFill>
              </a:defRPr>
            </a:pPr>
            <a:r>
              <a:t>NOW</a:t>
            </a:r>
          </a:p>
          <a:p>
            <a:pPr>
              <a:spcBef>
                <a:spcPts val="200"/>
              </a:spcBef>
              <a:defRPr b="1" sz="1000">
                <a:solidFill>
                  <a:srgbClr val="1C1917"/>
                </a:solidFill>
              </a:defRPr>
            </a:pPr>
            <a:r>
              <a:t>Working Prototype</a:t>
            </a:r>
          </a:p>
          <a:p>
            <a:pPr>
              <a:spcBef>
                <a:spcPts val="400"/>
              </a:spcBef>
              <a:defRPr sz="850">
                <a:solidFill>
                  <a:srgbClr val="4E4741"/>
                </a:solidFill>
              </a:defRPr>
            </a:pPr>
            <a:r>
              <a:t>5 games, PWA, local sync &amp; WhatsApp bot</a:t>
            </a:r>
          </a:p>
        </p:txBody>
      </p:sp>
      <p:sp>
        <p:nvSpPr>
          <p:cNvPr id="11" name="TextBox 10"/>
          <p:cNvSpPr txBox="1"/>
          <p:nvPr/>
        </p:nvSpPr>
        <p:spPr>
          <a:xfrm>
            <a:off x="2377440" y="2606040"/>
            <a:ext cx="228600" cy="365760"/>
          </a:xfrm>
          <a:prstGeom prst="rect">
            <a:avLst/>
          </a:prstGeom>
          <a:noFill/>
        </p:spPr>
        <p:txBody>
          <a:bodyPr wrap="square" lIns="0" rIns="0" tIns="0" bIns="0">
            <a:spAutoFit/>
          </a:bodyPr>
          <a:lstStyle/>
          <a:p>
            <a:pPr algn="ctr">
              <a:defRPr b="1" sz="1800">
                <a:solidFill>
                  <a:srgbClr val="2D6A4F"/>
                </a:solidFill>
              </a:defRPr>
            </a:pPr>
            <a:r>
              <a:t>➔</a:t>
            </a:r>
          </a:p>
        </p:txBody>
      </p:sp>
      <p:sp>
        <p:nvSpPr>
          <p:cNvPr id="12" name="Rounded Rectangle 11"/>
          <p:cNvSpPr/>
          <p:nvPr/>
        </p:nvSpPr>
        <p:spPr>
          <a:xfrm>
            <a:off x="2606040" y="2103120"/>
            <a:ext cx="1463040" cy="1325880"/>
          </a:xfrm>
          <a:prstGeom prst="roundRect">
            <a:avLst/>
          </a:prstGeom>
          <a:solidFill>
            <a:srgbClr val="FFFFFF"/>
          </a:solidFill>
          <a:ln w="15240">
            <a:solidFill>
              <a:srgbClr val="2D6A4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697480" y="2194560"/>
            <a:ext cx="1280160" cy="1143000"/>
          </a:xfrm>
          <a:prstGeom prst="rect">
            <a:avLst/>
          </a:prstGeom>
          <a:noFill/>
        </p:spPr>
        <p:txBody>
          <a:bodyPr wrap="square">
            <a:spAutoFit/>
          </a:bodyPr>
          <a:lstStyle/>
          <a:p>
            <a:pPr>
              <a:defRPr b="1" sz="1100">
                <a:solidFill>
                  <a:srgbClr val="2D6A4F"/>
                </a:solidFill>
              </a:defRPr>
            </a:pPr>
            <a:r>
              <a:t>NEXT</a:t>
            </a:r>
          </a:p>
          <a:p>
            <a:pPr>
              <a:spcBef>
                <a:spcPts val="200"/>
              </a:spcBef>
              <a:defRPr b="1" sz="1000">
                <a:solidFill>
                  <a:srgbClr val="1C1917"/>
                </a:solidFill>
              </a:defRPr>
            </a:pPr>
            <a:r>
              <a:t>Cohort Pilot</a:t>
            </a:r>
          </a:p>
          <a:p>
            <a:pPr>
              <a:spcBef>
                <a:spcPts val="400"/>
              </a:spcBef>
              <a:defRPr sz="850">
                <a:solidFill>
                  <a:srgbClr val="4E4741"/>
                </a:solidFill>
              </a:defRPr>
            </a:pPr>
            <a:r>
              <a:t>Testing with seniors + family caregivers</a:t>
            </a:r>
          </a:p>
        </p:txBody>
      </p:sp>
      <p:sp>
        <p:nvSpPr>
          <p:cNvPr id="14" name="TextBox 13"/>
          <p:cNvSpPr txBox="1"/>
          <p:nvPr/>
        </p:nvSpPr>
        <p:spPr>
          <a:xfrm>
            <a:off x="4069080" y="2606040"/>
            <a:ext cx="228600" cy="365760"/>
          </a:xfrm>
          <a:prstGeom prst="rect">
            <a:avLst/>
          </a:prstGeom>
          <a:noFill/>
        </p:spPr>
        <p:txBody>
          <a:bodyPr wrap="square" lIns="0" rIns="0" tIns="0" bIns="0">
            <a:spAutoFit/>
          </a:bodyPr>
          <a:lstStyle/>
          <a:p>
            <a:pPr algn="ctr">
              <a:defRPr b="1" sz="1800">
                <a:solidFill>
                  <a:srgbClr val="2D6A4F"/>
                </a:solidFill>
              </a:defRPr>
            </a:pPr>
            <a:r>
              <a:t>➔</a:t>
            </a:r>
          </a:p>
        </p:txBody>
      </p:sp>
      <p:sp>
        <p:nvSpPr>
          <p:cNvPr id="15" name="Rounded Rectangle 14"/>
          <p:cNvSpPr/>
          <p:nvPr/>
        </p:nvSpPr>
        <p:spPr>
          <a:xfrm>
            <a:off x="4297680" y="2103120"/>
            <a:ext cx="1463040" cy="1325880"/>
          </a:xfrm>
          <a:prstGeom prst="roundRect">
            <a:avLst/>
          </a:prstGeom>
          <a:solidFill>
            <a:srgbClr val="FFFFFF"/>
          </a:solidFill>
          <a:ln w="15240">
            <a:solidFill>
              <a:srgbClr val="1B43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389120" y="2194560"/>
            <a:ext cx="1280160" cy="1143000"/>
          </a:xfrm>
          <a:prstGeom prst="rect">
            <a:avLst/>
          </a:prstGeom>
          <a:noFill/>
        </p:spPr>
        <p:txBody>
          <a:bodyPr wrap="square">
            <a:spAutoFit/>
          </a:bodyPr>
          <a:lstStyle/>
          <a:p>
            <a:pPr>
              <a:defRPr b="1" sz="1100">
                <a:solidFill>
                  <a:srgbClr val="1B4332"/>
                </a:solidFill>
              </a:defRPr>
            </a:pPr>
            <a:r>
              <a:t>VALIDATE</a:t>
            </a:r>
          </a:p>
          <a:p>
            <a:pPr>
              <a:spcBef>
                <a:spcPts val="200"/>
              </a:spcBef>
              <a:defRPr b="1" sz="1000">
                <a:solidFill>
                  <a:srgbClr val="1C1917"/>
                </a:solidFill>
              </a:defRPr>
            </a:pPr>
            <a:r>
              <a:t>Evidence Analysis</a:t>
            </a:r>
          </a:p>
          <a:p>
            <a:pPr>
              <a:spcBef>
                <a:spcPts val="400"/>
              </a:spcBef>
              <a:defRPr sz="850">
                <a:solidFill>
                  <a:srgbClr val="4E4741"/>
                </a:solidFill>
              </a:defRPr>
            </a:pPr>
            <a:r>
              <a:t>Usability, adherence &amp; trend evaluation</a:t>
            </a:r>
          </a:p>
        </p:txBody>
      </p:sp>
      <p:sp>
        <p:nvSpPr>
          <p:cNvPr id="17" name="TextBox 16"/>
          <p:cNvSpPr txBox="1"/>
          <p:nvPr/>
        </p:nvSpPr>
        <p:spPr>
          <a:xfrm>
            <a:off x="5760720" y="2606040"/>
            <a:ext cx="228600" cy="365760"/>
          </a:xfrm>
          <a:prstGeom prst="rect">
            <a:avLst/>
          </a:prstGeom>
          <a:noFill/>
        </p:spPr>
        <p:txBody>
          <a:bodyPr wrap="square" lIns="0" rIns="0" tIns="0" bIns="0">
            <a:spAutoFit/>
          </a:bodyPr>
          <a:lstStyle/>
          <a:p>
            <a:pPr algn="ctr">
              <a:defRPr b="1" sz="1800">
                <a:solidFill>
                  <a:srgbClr val="2D6A4F"/>
                </a:solidFill>
              </a:defRPr>
            </a:pPr>
            <a:r>
              <a:t>➔</a:t>
            </a:r>
          </a:p>
        </p:txBody>
      </p:sp>
      <p:sp>
        <p:nvSpPr>
          <p:cNvPr id="18" name="Rounded Rectangle 17"/>
          <p:cNvSpPr/>
          <p:nvPr/>
        </p:nvSpPr>
        <p:spPr>
          <a:xfrm>
            <a:off x="5989320" y="2103120"/>
            <a:ext cx="1463040" cy="1325880"/>
          </a:xfrm>
          <a:prstGeom prst="roundRect">
            <a:avLst/>
          </a:prstGeom>
          <a:solidFill>
            <a:srgbClr val="FFFFFF"/>
          </a:solidFill>
          <a:ln w="15240">
            <a:solidFill>
              <a:srgbClr val="6B1D2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080760" y="2194560"/>
            <a:ext cx="1280160" cy="1143000"/>
          </a:xfrm>
          <a:prstGeom prst="rect">
            <a:avLst/>
          </a:prstGeom>
          <a:noFill/>
        </p:spPr>
        <p:txBody>
          <a:bodyPr wrap="square">
            <a:spAutoFit/>
          </a:bodyPr>
          <a:lstStyle/>
          <a:p>
            <a:pPr>
              <a:defRPr b="1" sz="1100">
                <a:solidFill>
                  <a:srgbClr val="6B1D2F"/>
                </a:solidFill>
              </a:defRPr>
            </a:pPr>
            <a:r>
              <a:t>SCALE</a:t>
            </a:r>
          </a:p>
          <a:p>
            <a:pPr>
              <a:spcBef>
                <a:spcPts val="200"/>
              </a:spcBef>
              <a:defRPr b="1" sz="1000">
                <a:solidFill>
                  <a:srgbClr val="1C1917"/>
                </a:solidFill>
              </a:defRPr>
            </a:pPr>
            <a:r>
              <a:t>Public Integration</a:t>
            </a:r>
          </a:p>
          <a:p>
            <a:pPr>
              <a:spcBef>
                <a:spcPts val="400"/>
              </a:spcBef>
              <a:defRPr sz="850">
                <a:solidFill>
                  <a:srgbClr val="4E4741"/>
                </a:solidFill>
              </a:defRPr>
            </a:pPr>
            <a:r>
              <a:t>More languages &amp; primary health kiosk</a:t>
            </a:r>
          </a:p>
        </p:txBody>
      </p:sp>
      <p:sp>
        <p:nvSpPr>
          <p:cNvPr id="20" name="Rounded Rectangle 19"/>
          <p:cNvSpPr/>
          <p:nvPr/>
        </p:nvSpPr>
        <p:spPr>
          <a:xfrm>
            <a:off x="7772400" y="1645920"/>
            <a:ext cx="3687775" cy="2011680"/>
          </a:xfrm>
          <a:prstGeom prst="roundRect">
            <a:avLst/>
          </a:prstGeom>
          <a:solidFill>
            <a:srgbClr val="FFFFFF"/>
          </a:solidFill>
          <a:ln w="15240">
            <a:solidFill>
              <a:srgbClr val="E2DCD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955280" y="1810512"/>
            <a:ext cx="3322015" cy="320040"/>
          </a:xfrm>
          <a:prstGeom prst="rect">
            <a:avLst/>
          </a:prstGeom>
          <a:noFill/>
        </p:spPr>
        <p:txBody>
          <a:bodyPr wrap="square" lIns="0" rIns="0" tIns="0" bIns="0">
            <a:spAutoFit/>
          </a:bodyPr>
          <a:lstStyle/>
          <a:p>
            <a:pPr>
              <a:defRPr b="1" sz="1200">
                <a:solidFill>
                  <a:srgbClr val="1B4332"/>
                </a:solidFill>
              </a:defRPr>
            </a:pPr>
            <a:r>
              <a:t>WHAT WE WILL MEASURE (PILOT)</a:t>
            </a:r>
          </a:p>
        </p:txBody>
      </p:sp>
      <p:sp>
        <p:nvSpPr>
          <p:cNvPr id="22" name="TextBox 21"/>
          <p:cNvSpPr txBox="1"/>
          <p:nvPr/>
        </p:nvSpPr>
        <p:spPr>
          <a:xfrm>
            <a:off x="7955279" y="2057400"/>
            <a:ext cx="3322015" cy="1463040"/>
          </a:xfrm>
          <a:prstGeom prst="rect">
            <a:avLst/>
          </a:prstGeom>
          <a:noFill/>
        </p:spPr>
        <p:txBody>
          <a:bodyPr wrap="none">
            <a:spAutoFit/>
          </a:bodyPr>
          <a:lstStyle/>
          <a:p>
            <a:pPr>
              <a:defRPr sz="950">
                <a:solidFill>
                  <a:srgbClr val="4E4741"/>
                </a:solidFill>
              </a:defRPr>
            </a:pPr>
            <a:r>
              <a:t>• Usability &amp; interface navigation friction</a:t>
            </a:r>
          </a:p>
          <a:p>
            <a:pPr>
              <a:spcBef>
                <a:spcPts val="300"/>
              </a:spcBef>
              <a:defRPr sz="950">
                <a:solidFill>
                  <a:srgbClr val="4E4741"/>
                </a:solidFill>
              </a:defRPr>
            </a:pPr>
            <a:r>
              <a:t>• 14-day routine adherence rate</a:t>
            </a:r>
          </a:p>
          <a:p>
            <a:pPr>
              <a:spcBef>
                <a:spcPts val="300"/>
              </a:spcBef>
              <a:defRPr sz="950">
                <a:solidFill>
                  <a:srgbClr val="4E4741"/>
                </a:solidFill>
              </a:defRPr>
            </a:pPr>
            <a:r>
              <a:t>• Touch error rates in senior interactions</a:t>
            </a:r>
          </a:p>
          <a:p>
            <a:pPr>
              <a:spcBef>
                <a:spcPts val="300"/>
              </a:spcBef>
              <a:defRPr sz="950">
                <a:solidFill>
                  <a:srgbClr val="4E4741"/>
                </a:solidFill>
              </a:defRPr>
            </a:pPr>
            <a:r>
              <a:t>• Caregiver notification usefulness</a:t>
            </a:r>
          </a:p>
          <a:p>
            <a:pPr>
              <a:spcBef>
                <a:spcPts val="300"/>
              </a:spcBef>
              <a:defRPr sz="950">
                <a:solidFill>
                  <a:srgbClr val="4E4741"/>
                </a:solidFill>
              </a:defRPr>
            </a:pPr>
            <a:r>
              <a:t>• Multi-session reaction latency stability</a:t>
            </a:r>
          </a:p>
        </p:txBody>
      </p:sp>
      <p:sp>
        <p:nvSpPr>
          <p:cNvPr id="23" name="Rounded Rectangle 22"/>
          <p:cNvSpPr/>
          <p:nvPr/>
        </p:nvSpPr>
        <p:spPr>
          <a:xfrm>
            <a:off x="731520" y="3886200"/>
            <a:ext cx="10728655" cy="2468880"/>
          </a:xfrm>
          <a:prstGeom prst="roundRect">
            <a:avLst/>
          </a:prstGeom>
          <a:solidFill>
            <a:srgbClr val="EBF5EE"/>
          </a:solidFill>
          <a:ln w="15240">
            <a:solidFill>
              <a:srgbClr val="1B43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14400" y="4069080"/>
            <a:ext cx="10362895" cy="2103120"/>
          </a:xfrm>
          <a:prstGeom prst="rect">
            <a:avLst/>
          </a:prstGeom>
          <a:noFill/>
        </p:spPr>
        <p:txBody>
          <a:bodyPr wrap="square">
            <a:spAutoFit/>
          </a:bodyPr>
          <a:lstStyle/>
          <a:p>
            <a:pPr algn="ctr">
              <a:defRPr b="1" sz="3600">
                <a:solidFill>
                  <a:srgbClr val="1B4332"/>
                </a:solidFill>
              </a:defRPr>
            </a:pPr>
            <a:r>
              <a:t>MANOMITRA</a:t>
            </a:r>
          </a:p>
          <a:p>
            <a:pPr algn="ctr">
              <a:spcBef>
                <a:spcPts val="200"/>
              </a:spcBef>
              <a:defRPr b="1" sz="1600">
                <a:solidFill>
                  <a:srgbClr val="6B1D2F"/>
                </a:solidFill>
              </a:defRPr>
            </a:pPr>
            <a:r>
              <a:t>"Your Companion for a Healthier Mind."</a:t>
            </a:r>
          </a:p>
          <a:p>
            <a:pPr algn="ctr">
              <a:spcBef>
                <a:spcPts val="800"/>
              </a:spcBef>
              <a:defRPr b="1" sz="1300">
                <a:solidFill>
                  <a:srgbClr val="1B4332"/>
                </a:solidFill>
              </a:defRPr>
            </a:pPr>
            <a:r>
              <a:t>PLAY   •   MEASURE   •   ADAPT   •   TRACK   •   SUPPORT</a:t>
            </a:r>
          </a:p>
          <a:p>
            <a:pPr algn="ctr">
              <a:spcBef>
                <a:spcPts val="800"/>
              </a:spcBef>
              <a:defRPr i="1" sz="1300">
                <a:solidFill>
                  <a:srgbClr val="1C1917"/>
                </a:solidFill>
              </a:defRPr>
            </a:pPr>
            <a:r>
              <a:t>"Care should not depend on memory, language, or connectivity."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